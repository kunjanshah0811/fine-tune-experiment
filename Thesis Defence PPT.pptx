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8" r:id="rId5"/>
    <p:sldId id="267" r:id="rId6"/>
    <p:sldId id="270" r:id="rId7"/>
    <p:sldId id="301" r:id="rId8"/>
    <p:sldId id="272" r:id="rId9"/>
    <p:sldId id="303" r:id="rId10"/>
    <p:sldId id="273" r:id="rId11"/>
    <p:sldId id="274" r:id="rId12"/>
    <p:sldId id="304" r:id="rId13"/>
    <p:sldId id="305" r:id="rId14"/>
    <p:sldId id="307" r:id="rId15"/>
    <p:sldId id="306" r:id="rId16"/>
    <p:sldId id="309" r:id="rId17"/>
    <p:sldId id="310" r:id="rId18"/>
    <p:sldId id="311" r:id="rId19"/>
    <p:sldId id="312" r:id="rId20"/>
    <p:sldId id="315" r:id="rId21"/>
    <p:sldId id="316" r:id="rId22"/>
    <p:sldId id="317" r:id="rId23"/>
    <p:sldId id="318" r:id="rId24"/>
    <p:sldId id="319" r:id="rId25"/>
    <p:sldId id="320" r:id="rId26"/>
    <p:sldId id="322" r:id="rId27"/>
    <p:sldId id="323" r:id="rId28"/>
    <p:sldId id="324" r:id="rId29"/>
    <p:sldId id="325" r:id="rId30"/>
    <p:sldId id="326" r:id="rId31"/>
    <p:sldId id="328" r:id="rId32"/>
    <p:sldId id="327" r:id="rId33"/>
    <p:sldId id="329" r:id="rId34"/>
    <p:sldId id="332" r:id="rId35"/>
    <p:sldId id="333" r:id="rId36"/>
    <p:sldId id="335" r:id="rId37"/>
    <p:sldId id="336" r:id="rId38"/>
    <p:sldId id="290" r:id="rId39"/>
  </p:sldIdLst>
  <p:sldSz cx="12192000" cy="6858000"/>
  <p:notesSz cx="6858000" cy="9144000"/>
  <p:custDataLst>
    <p:tags r:id="rId4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C52C6746-D6F8-4BA6-9B78-4EA007100812}">
          <p14:sldIdLst>
            <p14:sldId id="258"/>
          </p14:sldIdLst>
        </p14:section>
        <p14:section name="Section" id="{71123218-A27B-49A0-9B86-D94311BBE4C0}">
          <p14:sldIdLst>
            <p14:sldId id="267"/>
          </p14:sldIdLst>
        </p14:section>
        <p14:section name="Chapter" id="{682BCB94-4133-4C24-B34B-728522569B4F}">
          <p14:sldIdLst>
            <p14:sldId id="270"/>
          </p14:sldIdLst>
        </p14:section>
        <p14:section name="Text" id="{5B9B8470-F0FE-44CB-BD5A-2176DDFDAC6B}">
          <p14:sldIdLst>
            <p14:sldId id="301"/>
            <p14:sldId id="272"/>
            <p14:sldId id="303"/>
            <p14:sldId id="273"/>
            <p14:sldId id="274"/>
            <p14:sldId id="304"/>
            <p14:sldId id="305"/>
            <p14:sldId id="307"/>
            <p14:sldId id="306"/>
            <p14:sldId id="309"/>
            <p14:sldId id="310"/>
            <p14:sldId id="311"/>
            <p14:sldId id="312"/>
            <p14:sldId id="315"/>
            <p14:sldId id="316"/>
            <p14:sldId id="317"/>
            <p14:sldId id="318"/>
            <p14:sldId id="319"/>
            <p14:sldId id="320"/>
            <p14:sldId id="322"/>
            <p14:sldId id="323"/>
            <p14:sldId id="324"/>
            <p14:sldId id="325"/>
            <p14:sldId id="326"/>
            <p14:sldId id="328"/>
            <p14:sldId id="327"/>
            <p14:sldId id="329"/>
            <p14:sldId id="332"/>
            <p14:sldId id="333"/>
            <p14:sldId id="335"/>
            <p14:sldId id="336"/>
          </p14:sldIdLst>
        </p14:section>
        <p14:section name="Text &amp; Image" id="{D0E8658A-FE89-4147-8576-098B8C945D0D}">
          <p14:sldIdLst/>
        </p14:section>
        <p14:section name="Highlight slides" id="{3B0BADBC-0796-46DA-B676-1B8245DFA536}">
          <p14:sldIdLst>
            <p14:sldId id="290"/>
          </p14:sldIdLst>
        </p14:section>
        <p14:section name="Conclusion slide" id="{C3BF70FF-C593-4BBE-BB8D-65992C8C77A2}">
          <p14:sldIdLst/>
        </p14:section>
        <p14:section name="Contact slides" id="{8C56E085-B919-49BF-8CA8-F254FFC3303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jan Ketanbhai Shah" initials="KS" lastIdx="1" clrIdx="0">
    <p:extLst>
      <p:ext uri="{19B8F6BF-5375-455C-9EA6-DF929625EA0E}">
        <p15:presenceInfo xmlns:p15="http://schemas.microsoft.com/office/powerpoint/2012/main" userId="S::kkshah@ad.uni-paderborn.de::0b67d63f-1760-48cc-8613-9d8eba5d21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39444" autoAdjust="0"/>
  </p:normalViewPr>
  <p:slideViewPr>
    <p:cSldViewPr snapToGrid="0" snapToObjects="1" showGuides="1">
      <p:cViewPr varScale="1">
        <p:scale>
          <a:sx n="30" d="100"/>
          <a:sy n="30" d="100"/>
        </p:scale>
        <p:origin x="2630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16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72000" tIns="72000" rIns="72000" bIns="7200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72000" tIns="72000" rIns="72000" bIns="72000" rtlCol="0"/>
          <a:lstStyle>
            <a:lvl1pPr algn="r">
              <a:defRPr sz="1200"/>
            </a:lvl1pPr>
          </a:lstStyle>
          <a:p>
            <a:fld id="{A1B87758-AD31-4194-90BB-989A2A82B1D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72000" tIns="72000" rIns="72000" bIns="7200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72000" tIns="72000" rIns="72000" bIns="72000" rtlCol="0" anchor="b"/>
          <a:lstStyle>
            <a:lvl1pPr algn="r">
              <a:defRPr sz="1200"/>
            </a:lvl1pPr>
          </a:lstStyle>
          <a:p>
            <a:fld id="{71641179-0BCF-4DA6-8E69-8E784748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31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72000" tIns="72000" rIns="72000" bIns="7200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72000" tIns="72000" rIns="72000" bIns="72000" rtlCol="0"/>
          <a:lstStyle>
            <a:lvl1pPr algn="r">
              <a:defRPr sz="1200"/>
            </a:lvl1pPr>
          </a:lstStyle>
          <a:p>
            <a:fld id="{C8930F80-4E1A-4DB0-9712-170FF40CA8AD}" type="datetimeFigureOut">
              <a:rPr lang="en-US" noProof="0" smtClean="0"/>
              <a:t>11/18/2025</a:t>
            </a:fld>
            <a:endParaRPr lang="en-US" noProof="0"/>
          </a:p>
        </p:txBody>
      </p:sp>
      <p:sp>
        <p:nvSpPr>
          <p:cNvPr id="4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2000" tIns="72000" rIns="72000" bIns="72000" rtlCol="0" anchor="ctr"/>
          <a:lstStyle/>
          <a:p>
            <a:endParaRPr lang="en-US" noProof="0"/>
          </a:p>
        </p:txBody>
      </p:sp>
      <p:sp>
        <p:nvSpPr>
          <p:cNvPr id="5" name="Note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72000" tIns="72000" rIns="72000" bIns="72000" rtlCol="0"/>
          <a:lstStyle/>
          <a:p>
            <a:pPr lvl="0"/>
            <a:r>
              <a:rPr lang="en-US" noProof="0"/>
              <a:t>Mastertextformat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72000" tIns="72000" rIns="72000" bIns="7200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72000" tIns="72000" rIns="72000" bIns="72000" rtlCol="0" anchor="b"/>
          <a:lstStyle>
            <a:lvl1pPr algn="r">
              <a:defRPr sz="1200"/>
            </a:lvl1pPr>
          </a:lstStyle>
          <a:p>
            <a:fld id="{3E7DA45D-117B-4B98-B32B-FECC160B57D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8960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ataenthusiast.io/fine-tuning-slms-on-agentic-tool-calling-an-experiment-ccbef62ac5c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rxiv.org/abs/2404.11584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“Good morning, everyone.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Kunjan Shah.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 will present my master thesis titled ‘A Comparative Study of Function Calling in LLMs With a Focus on Fine-Tuning for Precision.’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would like to thank my examiners and everyone present for joining.”</a:t>
            </a:r>
            <a:br>
              <a:rPr lang="en-GB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1240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58775" y="431800"/>
            <a:ext cx="6140450" cy="34544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“Here is the outline for today’s talk.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start with the introduction and motivation.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research questions and objectives.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that, the background.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the methodology, the research findings and finally limitations, future work, and conclusion.”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5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“Let’s start with the introduction and the motivation behind this work.”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58763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“Large Language Models today are very powerful.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can write code, summarize text, answer questions, and help in many domains like education, medicine, and software development.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LLMs still have limits.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hallucinate, and they cannot access real-time information.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becomes a big issue when we use LLMs in AI agents that need to take actions or make decisions.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Also, retraining models to update their knowledge is slow and costly.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these gaps, function calling was introduced in 2023.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calling lets models output structured JSON so external systems can act on it.”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88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“LLMs are now moving from simple text generators to autonomous agents.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use memory, planning, reasoning, and tool use.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#Frameworks like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CrewAI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Agno-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make this possible.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all this depends heavily on correct function calling.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the number of tools increases, accuracy drops.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General-purpose LLMs are often not reliable in enterprise settings.”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62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C2DC-1E9F-10EE-79FD-32CD275F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CA8901-5528-2BFA-B3C6-368BF3DA9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794DA6-9926-0C32-D613-5D65E4ED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“There are also privacy and security risks when we depend on third-party APIs.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#Many enterprises need models that are reliable, accurate, and adapted to their domain.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 is one solution.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 fine-tuned models can sometimes outperform larger general models.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motivates the study.”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6DA602-34C3-B3B6-C90F-8BC6001E6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09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 why fine-tune?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every business has its own data and needs.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 helps models answer in the right way for that domain.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privacy.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teams want local models to avoid sending data to external APIs.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faster performance.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LLMs give low latency.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Fifth is, reliability.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models work even if the API provider is down.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lastly, cost.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Running models locally can be cheaper at scale.”</a:t>
            </a:r>
            <a:endParaRPr lang="en-GB" b="0" dirty="0">
              <a:effectLst/>
            </a:endParaRPr>
          </a:p>
          <a:p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hlinkClick r:id="rId3"/>
              </a:rPr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hlinkClick r:id="rId3"/>
              </a:rPr>
              <a:t>https://medium.com/@dataenthusiast.io/fine-tuning-slms-on-agentic-tool-calling-an-experiment-ccbef62ac5c7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hlinkClick r:id="rId4"/>
              </a:rPr>
              <a:t>The Landscape of Emerging AI Agent Architectures for Reasoning, Planning, and Tool Calling: A Survey</a:t>
            </a:r>
            <a:endParaRPr lang="en-GB" dirty="0"/>
          </a:p>
          <a:p>
            <a:br>
              <a:rPr lang="en-GB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52562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main question of this study is: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fine-tuning impact the performance of LLMs for function calling?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check whether smaller open-source models, when fine-tuned, can compete with large proprietary models.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next sections, I will explain the research questions and the evaluation setup.”</a:t>
            </a:r>
            <a:endParaRPr lang="en-GB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75804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“Now let’s move to the research questions and objectives.”</a:t>
            </a:r>
          </a:p>
          <a:p>
            <a:r>
              <a:rPr lang="en-GB" dirty="0"/>
              <a:t>“These questions guide the full direction of this work.”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6740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53F7-D600-2DAE-F3B2-9AB43DBE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E6AB36-913C-EC5C-052F-12DCAE61C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D836E6-B510-EC24-1C80-7C8417828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**“The first question checks how well different models generate accurate and API-compliant function calls in single-turn tasks.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 GPT, Mistral, Llama, and Qwen.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look at correctness, schema-compliance, parameter accuracy, and tool detection.</a:t>
            </a:r>
            <a:endParaRPr lang="en-GB" b="0" dirty="0">
              <a:effectLst/>
            </a:endParaRPr>
          </a:p>
          <a:p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question checks how fine-tuning improves performance.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fine-tune open-source models using a synthetic dataset and compare with their baselines.”**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4E494F-9E89-6998-283B-642F32A1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9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7392-FCFC-5654-4E48-AF96760B3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E13A45-BD12-75A4-0B36-12339F947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717579-A296-14E9-91E1-F57E04E1D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third question focuses on multi-turn tasks.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the goal is to check how fine-tuning helps the model handle context, ask clarifying questions, and produce correct tool calls across multiple turns.”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02092F-AB25-3531-E3F8-E72C41D25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88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 support these questions, we need some background. Let’s go through the main concepts quickly.”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05593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I will explain how function calling works inside an LLM.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itself does not run the function.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only reads the user message, checks if a tool is needed, selects the right function, and then produces a JSON output describing that function call.”</a:t>
            </a:r>
            <a:endParaRPr lang="en-GB" sz="1050" b="0" dirty="0">
              <a:effectLst/>
            </a:endParaRPr>
          </a:p>
          <a:p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“This JSON is important.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backend reads the JSON, converts it into a real API call, and executes it.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model only generates the instruction, and the system performs the real action.”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#“Because of this, some researchers say ‘function generation’ is a better term than ‘function calling.’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#But the name ‘function calling’ is still used because the behaviour looks like an actual function call.”</a:t>
            </a:r>
            <a:endParaRPr lang="en-GB" sz="1050" b="0" dirty="0">
              <a:effectLst/>
            </a:endParaRPr>
          </a:p>
          <a:p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##“Tool selection is based on the list provided by the developer.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##The model looks at the tool name and its description to decide which one fits the user request.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tools are registered using the tools parameter in the Chat Completions API.”</a:t>
            </a:r>
            <a:br>
              <a:rPr lang="en-GB" sz="1050" b="0" dirty="0">
                <a:effectLst/>
              </a:rPr>
            </a:b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“There is one limitation.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OpenAI currently supports up to 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 functions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one request.</a:t>
            </a:r>
            <a:endParaRPr lang="en-GB" sz="1050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tool-heavy systems must plan accordingly.”</a:t>
            </a:r>
            <a:endParaRPr lang="en-GB" sz="1050" b="0" dirty="0">
              <a:effectLst/>
            </a:endParaRPr>
          </a:p>
          <a:p>
            <a:br>
              <a:rPr lang="en-GB" sz="1050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714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“There are four categories: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is single-turn calling.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one user query leads to one function call.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simple, independent, and needs no past context.”</a:t>
            </a:r>
            <a:endParaRPr lang="en-GB" b="0" dirty="0">
              <a:effectLst/>
            </a:endParaRPr>
          </a:p>
          <a:p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second is parallel calling.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generates multiple function calls at the same time when the request needs several tools.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calls are independent and can run together.”</a:t>
            </a:r>
            <a:endParaRPr lang="en-GB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70098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third is nested or sequential calling.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case, one function’s output is passed into the next function.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supports multi-step or compositional workflows.”</a:t>
            </a:r>
            <a:endParaRPr lang="en-GB" b="0" dirty="0">
              <a:effectLst/>
            </a:endParaRPr>
          </a:p>
          <a:p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“And the fourth is multi-turn calling.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most complex form.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mixes normal conversation with tool calls, keeps track of previous turns, and asks for missing information when needed.”</a:t>
            </a:r>
            <a:endParaRPr lang="en-GB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03188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“Fine-tuning adapts a pre-trained model to a specific task using a smaller, targeted dataset.</a:t>
            </a:r>
          </a:p>
          <a:p>
            <a:pPr rtl="0"/>
            <a:r>
              <a:rPr lang="en-GB" dirty="0"/>
              <a:t>Within fine-tuning, one common approach is Supervised Fine-Tuning (SFT), where the model learns directly from </a:t>
            </a:r>
            <a:r>
              <a:rPr lang="en-GB" dirty="0" err="1"/>
              <a:t>labeled</a:t>
            </a:r>
            <a:r>
              <a:rPr lang="en-GB" dirty="0"/>
              <a:t> examples.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supervised fine-tuning, we use input-output (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labeled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pairs. </a:t>
            </a: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#Base model weights (e.g., from Hugging Face) are adjusted using task-specific examples.</a:t>
            </a:r>
          </a:p>
          <a:p>
            <a:pPr rtl="0"/>
            <a:r>
              <a:rPr lang="en-GB" dirty="0"/>
              <a:t>As models grow larger, full fine tuning becomes expensive, which leads to Parameter-Efficient Fine-Tuning (PEFT) methods.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PEFT methods, we update only a small part of the model while keeping most of its weights frozen.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10171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“With the background ready, let’s walk through the full methodology step by step.”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74550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dirty="0"/>
              <a:t>**“Now let’s start with the methodology section.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“Dataset creation is the foundation.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created 15 enterprise scenarios like HR, finance, IT, support, and logistics.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scenarios match typical enterprise workflows.”</a:t>
            </a:r>
            <a:endParaRPr lang="en-GB" b="0" dirty="0">
              <a:effectLst/>
            </a:endParaRPr>
          </a:p>
          <a:p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single-turn: 45 functions, 3 per scenario.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multi-turn: 15 functions, one per scenario, because multi-turn requires stable context.”</a:t>
            </a:r>
          </a:p>
          <a:p>
            <a:pPr rtl="0"/>
            <a:endParaRPr lang="en-GB" b="0" dirty="0">
              <a:effectLst/>
            </a:endParaRPr>
          </a:p>
          <a:p>
            <a:r>
              <a:rPr lang="en-GB" dirty="0"/>
              <a:t>To show how a function is actually defined in the tools parameter, here is an example from the Human Resources (HR) Management scenario.</a:t>
            </a:r>
            <a:br>
              <a:rPr lang="en-GB" dirty="0"/>
            </a:br>
            <a:r>
              <a:rPr lang="en-GB" dirty="0"/>
              <a:t>type -&gt; Always set to "function". It tells the system that this object defines a callable function.</a:t>
            </a:r>
          </a:p>
          <a:p>
            <a:r>
              <a:rPr lang="en-GB" dirty="0"/>
              <a:t>function -&gt; The main container that holds the function’s name, description, and parameters.</a:t>
            </a:r>
          </a:p>
          <a:p>
            <a:endParaRPr lang="en-GB" dirty="0"/>
          </a:p>
          <a:p>
            <a:r>
              <a:rPr lang="en-GB" dirty="0"/>
              <a:t>Inside the parameter section, the inner ‘type’ is usually set to ‘object’, meaning the function expects a group of input fields.</a:t>
            </a:r>
          </a:p>
          <a:p>
            <a:r>
              <a:rPr lang="en-GB" dirty="0"/>
              <a:t>Type -&gt; Usually "object", meaning the function expects a group of input fields.</a:t>
            </a:r>
          </a:p>
          <a:p>
            <a:r>
              <a:rPr lang="en-GB" dirty="0"/>
              <a:t>Required -&gt; Lists the fields that must be included every time the function is called. If a field isn’t in this list, it’s optional.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33812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“User queries were created in different difficulty types: simple, complex, ambiguous, and unclear.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helps simulate real user behaviour.” “Each user query has a matching correct function call.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pairs were manually checked to ensure correctness.”</a:t>
            </a:r>
            <a:endParaRPr lang="en-GB" b="0" dirty="0">
              <a:effectLst/>
            </a:endParaRPr>
          </a:p>
          <a:p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“System prompts, user queries, functions, and ground truth are merged into one conversation entry.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is split into 80% train, 10% validation, 10% test.” 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set </a:t>
            </a:r>
            <a:r>
              <a:rPr lang="en-GB" dirty="0"/>
              <a:t>monitors performance during training, helping to tune hyperparameters and avoid overfitting and test set evaluates the model on un seen data to measure its real-world performance.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19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18624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“Models selected: GPT-5, Qwen3-14B, Llama-3.1-8B-Instruct, and Ministral-8B.</a:t>
            </a:r>
          </a:p>
          <a:p>
            <a:pPr rtl="0"/>
            <a:r>
              <a:rPr lang="en-GB" dirty="0"/>
              <a:t>These models were chosen based on their performance, number of parameters, availability of open weights for fine-tuning, the API access provided by the institute, and how well they handle tool calling tasks.</a:t>
            </a:r>
          </a:p>
          <a:p>
            <a:pPr rtl="0"/>
            <a:endParaRPr lang="en-GB" b="0" dirty="0">
              <a:effectLst/>
            </a:endParaRPr>
          </a:p>
          <a:p>
            <a:pPr rtl="0"/>
            <a:r>
              <a:rPr lang="en-GB" dirty="0"/>
              <a:t>In this work, ‘Instruct’ versions of the models are used instead of the ‘Base’ versions because they follow natural instructions better and align well with chat templates such as </a:t>
            </a:r>
            <a:r>
              <a:rPr lang="en-GB" dirty="0" err="1"/>
              <a:t>ChatML</a:t>
            </a:r>
            <a:r>
              <a:rPr lang="en-GB" dirty="0"/>
              <a:t> and </a:t>
            </a:r>
            <a:r>
              <a:rPr lang="en-GB" dirty="0" err="1"/>
              <a:t>ShareGPT</a:t>
            </a:r>
            <a:r>
              <a:rPr lang="en-GB" dirty="0"/>
              <a:t>, which is important for conversational and function-calling tasks.”</a:t>
            </a:r>
            <a:endParaRPr lang="en-GB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40671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used Unsloth with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QLoRA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This framework is chosen because it is very efficient for fine-tuning and works well even on low-VRAM GPUs. It supports 4-bit and 16-bit quantization through </a:t>
            </a:r>
            <a:r>
              <a:rPr lang="en-GB" dirty="0" err="1"/>
              <a:t>BitsAndBytes</a:t>
            </a:r>
            <a:r>
              <a:rPr lang="en-GB" dirty="0"/>
              <a:t>, and it integrates fully with Hugging Face Transformers for loading models, tokenizers, and training scripts. </a:t>
            </a:r>
          </a:p>
          <a:p>
            <a:r>
              <a:rPr lang="en-GB" dirty="0"/>
              <a:t>#Unsloth also supports GGUF models, both instruct and base versions, and it is lightweight enough for local setups, </a:t>
            </a:r>
            <a:r>
              <a:rPr lang="en-GB" dirty="0" err="1"/>
              <a:t>Colab</a:t>
            </a:r>
            <a:r>
              <a:rPr lang="en-GB" dirty="0"/>
              <a:t>, or Kaggle.</a:t>
            </a:r>
          </a:p>
          <a:p>
            <a:endParaRPr lang="en-GB" dirty="0"/>
          </a:p>
          <a:p>
            <a:r>
              <a:rPr lang="en-GB" dirty="0"/>
              <a:t>All experiments in this work were done on an NVIDIA A100-80GB GPU with 12 CPU cores in a single-GPU setup, since multi-GPU support in Unsloth is still under development.”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53022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**“In the training workflow, the dataset is first loaded, followed by the model and tokenizer in a 4-bit </a:t>
            </a:r>
            <a:r>
              <a:rPr lang="en-GB" dirty="0" err="1"/>
              <a:t>QLoRA</a:t>
            </a:r>
            <a:r>
              <a:rPr lang="en-GB" dirty="0"/>
              <a:t> format.</a:t>
            </a:r>
          </a:p>
          <a:p>
            <a:endParaRPr lang="en-GB" dirty="0"/>
          </a:p>
          <a:p>
            <a:r>
              <a:rPr lang="en-GB" dirty="0" err="1"/>
              <a:t>QLoRA</a:t>
            </a:r>
            <a:r>
              <a:rPr lang="en-GB" dirty="0"/>
              <a:t> is used because it extends </a:t>
            </a:r>
            <a:r>
              <a:rPr lang="en-GB" dirty="0" err="1"/>
              <a:t>LoRA</a:t>
            </a:r>
            <a:r>
              <a:rPr lang="en-GB" dirty="0"/>
              <a:t> with 4-bit or 8-bit weight quantization, which allows very large models to be fine-tuned on single-GPU or consumer hardware.</a:t>
            </a:r>
            <a:br>
              <a:rPr lang="en-GB" dirty="0"/>
            </a:br>
            <a:r>
              <a:rPr lang="en-GB" dirty="0"/>
              <a:t>#For example, a full fine-tune of Llama-65B needs around 780GB of VRAM, but with </a:t>
            </a:r>
            <a:r>
              <a:rPr lang="en-GB" dirty="0" err="1"/>
              <a:t>QLoRA</a:t>
            </a:r>
            <a:r>
              <a:rPr lang="en-GB" dirty="0"/>
              <a:t> it can be reduced to about 48GB.</a:t>
            </a:r>
          </a:p>
          <a:p>
            <a:endParaRPr lang="en-GB" dirty="0"/>
          </a:p>
          <a:p>
            <a:r>
              <a:rPr lang="en-GB" dirty="0" err="1"/>
              <a:t>LoRA</a:t>
            </a:r>
            <a:r>
              <a:rPr lang="en-GB" dirty="0"/>
              <a:t> adapters are applied so that only a small set of parameters is updated instead of the full model weights.</a:t>
            </a:r>
            <a:br>
              <a:rPr lang="en-GB" dirty="0"/>
            </a:br>
            <a:r>
              <a:rPr lang="en-GB" dirty="0"/>
              <a:t>The dataset is processed using </a:t>
            </a:r>
            <a:r>
              <a:rPr lang="en-GB" dirty="0" err="1"/>
              <a:t>ChatML</a:t>
            </a:r>
            <a:r>
              <a:rPr lang="en-GB" dirty="0"/>
              <a:t> formatting for both single-turn and multi-turn examples.</a:t>
            </a:r>
          </a:p>
          <a:p>
            <a:endParaRPr lang="en-GB" dirty="0"/>
          </a:p>
          <a:p>
            <a:r>
              <a:rPr lang="en-GB" dirty="0"/>
              <a:t>Training is then started, and once completed, the fine-tuned model is saved and exported for inference and evaluation.”**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69518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E2CF-ED25-A8F9-9F92-5CC2249E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C14E0-C3F9-A6BA-C890-62F344CCE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E4585-2301-D576-BC73-22E708E28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**“Finding the right hyperparameters is important.</a:t>
            </a:r>
            <a:br>
              <a:rPr lang="en-GB" dirty="0"/>
            </a:br>
            <a:r>
              <a:rPr lang="en-GB" dirty="0"/>
              <a:t>We can do it manually with trial and error or with an automatic script.</a:t>
            </a:r>
            <a:br>
              <a:rPr lang="en-GB" dirty="0"/>
            </a:br>
            <a:r>
              <a:rPr lang="en-GB" dirty="0"/>
              <a:t>To make this efficient, automated tools help search many combinations much faster and more reliably.</a:t>
            </a:r>
            <a:br>
              <a:rPr lang="en-GB" dirty="0"/>
            </a:br>
            <a:r>
              <a:rPr lang="en-GB" dirty="0"/>
              <a:t>I used </a:t>
            </a:r>
            <a:r>
              <a:rPr lang="en-GB" dirty="0" err="1"/>
              <a:t>Optuna</a:t>
            </a:r>
            <a:r>
              <a:rPr lang="en-GB" dirty="0"/>
              <a:t> to test multiple combinations, which is a common tool for hyperparameter tuning along with </a:t>
            </a:r>
            <a:r>
              <a:rPr lang="en-GB" dirty="0" err="1"/>
              <a:t>Hyperopt</a:t>
            </a:r>
            <a:r>
              <a:rPr lang="en-GB" dirty="0"/>
              <a:t>, Ray Tune, and </a:t>
            </a:r>
            <a:r>
              <a:rPr lang="en-GB" dirty="0" err="1"/>
              <a:t>AutoTrain</a:t>
            </a:r>
            <a:r>
              <a:rPr lang="en-GB" dirty="0"/>
              <a:t>.</a:t>
            </a:r>
          </a:p>
          <a:p>
            <a:r>
              <a:rPr lang="en-GB" dirty="0"/>
              <a:t>For single-turn, we tuned Ministral-8B, and </a:t>
            </a:r>
            <a:r>
              <a:rPr lang="en-GB" dirty="0" err="1"/>
              <a:t>Optuna</a:t>
            </a:r>
            <a:r>
              <a:rPr lang="en-GB" dirty="0"/>
              <a:t> selected the best settings by running many trials and choosing the lowest validation loss.</a:t>
            </a:r>
            <a:br>
              <a:rPr lang="en-GB" dirty="0"/>
            </a:br>
            <a:r>
              <a:rPr lang="en-GB" dirty="0"/>
              <a:t>For multi-turn, we tuned Qwen-14B, and the same process was used to pick the best hyperparameters based on the lowest validation loss.”**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3B10D-B9A4-2FA2-7B62-5BD657097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064608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5930-1DA3-AB3D-711F-5565154F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D264F-91D3-4567-81D2-D9121F163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CA308-95B0-C6C0-00C6-5B08DCC77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dirty="0"/>
              <a:t>“Now let's focus on the evaluation metrics. </a:t>
            </a:r>
          </a:p>
          <a:p>
            <a:pPr rtl="0"/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the single-turn evaluation, I used two groups of metrics.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group is the standard machine learning metrics.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 shows how often the model predicts the correct function call, or correctly predicts that no call is needed.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checks how many of the predicted function calls were actually correct, so it tells us how reliable the positive predictions are.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measures how well the model finds all the valid function calls that exist in the ground truth.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F1 score combines both precision and recall.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second group focuses on function-calling behaviour.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Usage Detection Rate measures if the model can decide when a tool call is needed, and when a normal reply is enough.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Selection Robustness checks if the model chooses the correct tool name after deciding to use a tool.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Parameter Completeness Rate measures if all required parameters are filled correctly, without missing, extra, or incorrect values.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metrics help us understand how well the model handles the full structure of a function call, not just whether it predicts something.”</a:t>
            </a:r>
            <a:endParaRPr lang="en-GB" b="0" dirty="0">
              <a:effectLst/>
            </a:endParaRPr>
          </a:p>
          <a:p>
            <a:br>
              <a:rPr lang="en-GB" dirty="0"/>
            </a:b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en-GB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18148-6E78-1A72-10AC-8BFC954E5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0232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8C05-6747-2DE6-1C8B-0C81B539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69963-6A48-31F2-1F2C-DFD4203C9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A6DBE-430E-38C2-56F1-EE2056DF1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GB" dirty="0"/>
              <a:t>After looking at the single-turn metrics,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automated evaluation, I designed an AST-based checker.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breaks each predicted function call into a structured tree and compares it directly with the ground truth.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makes the evaluation consistent and reliable.”</a:t>
            </a:r>
          </a:p>
          <a:p>
            <a:pPr rtl="0"/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“For multi-turn evaluation, there are three main metrics.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is the Conversation-Level Success Rate.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checks if the final tool call matches the ground truth, including the correct tool name and all required parameters.</a:t>
            </a:r>
            <a:endParaRPr lang="en-GB" b="0" dirty="0">
              <a:effectLst/>
            </a:endParaRPr>
          </a:p>
          <a:p>
            <a:pPr rtl="0"/>
            <a:br>
              <a:rPr lang="en-GB" dirty="0"/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is Clarification Handling Rate.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measures how often the model asks for missing information instead of guessing, and whether it completes the call correctly after clarification.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third is Parameter Completeness Rate.</a:t>
            </a:r>
            <a:endParaRPr lang="en-GB" b="0" dirty="0">
              <a:effectLst/>
            </a:endParaRPr>
          </a:p>
          <a:p>
            <a:pPr rtl="0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checks whether all required parameters are filled correctly, with accurate values and nothing missing or extra.”</a:t>
            </a:r>
            <a:endParaRPr lang="en-GB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0F20B-2B6D-9047-B682-23A7884F9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978121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“With the setup complete, let’s look at the results.”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795061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286C-9E72-9FC3-469D-814F0503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21276-9FCD-C592-718E-C206A3B9D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ED47E-4BAD-D38F-4CAE-3D5C4BCD2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“Now we move to the results section, starting with the single-turn evaluation.</a:t>
            </a:r>
            <a:br>
              <a:rPr lang="en-GB" dirty="0"/>
            </a:br>
            <a:r>
              <a:rPr lang="en-GB" dirty="0"/>
              <a:t>On this slide you can see the main table that summarizes the performance of all models — baseline, fine-tuned, and hyperparameter-tuned.</a:t>
            </a:r>
            <a:br>
              <a:rPr lang="en-GB" dirty="0"/>
            </a:br>
            <a:r>
              <a:rPr lang="en-GB" dirty="0"/>
              <a:t>You can see the prefixes: </a:t>
            </a:r>
            <a:r>
              <a:rPr lang="en-GB" i="1" dirty="0"/>
              <a:t>ft</a:t>
            </a:r>
            <a:r>
              <a:rPr lang="en-GB" dirty="0"/>
              <a:t> for fine-tuned models and </a:t>
            </a:r>
            <a:r>
              <a:rPr lang="en-GB" i="1" dirty="0"/>
              <a:t>hp</a:t>
            </a:r>
            <a:r>
              <a:rPr lang="en-GB" dirty="0"/>
              <a:t> for the hyperparameter-tuned model.” and baseline models </a:t>
            </a:r>
            <a:r>
              <a:rPr lang="en-IN" dirty="0"/>
              <a:t>without any prefixes. </a:t>
            </a:r>
          </a:p>
          <a:p>
            <a:endParaRPr lang="en-IN" dirty="0"/>
          </a:p>
          <a:p>
            <a:r>
              <a:rPr lang="en-GB" dirty="0"/>
              <a:t>“From the baseline results, we see a clear gap between the models. GPT-5 performs the best with around </a:t>
            </a:r>
            <a:r>
              <a:rPr lang="en-GB" b="1" dirty="0"/>
              <a:t>82% accuracy</a:t>
            </a:r>
            <a:r>
              <a:rPr lang="en-GB" dirty="0"/>
              <a:t>, strong precision, and high parameter completeness. Qwen3-14B also performs well with </a:t>
            </a:r>
            <a:r>
              <a:rPr lang="en-GB" b="1" dirty="0"/>
              <a:t>78% accuracy</a:t>
            </a:r>
            <a:r>
              <a:rPr lang="en-GB" dirty="0"/>
              <a:t> and stable behaviour. So overall, baselines show that small models need tuning to be useful for function calling.”</a:t>
            </a:r>
            <a:endParaRPr lang="en-IN" dirty="0"/>
          </a:p>
          <a:p>
            <a:endParaRPr lang="en-IN" dirty="0"/>
          </a:p>
          <a:p>
            <a:r>
              <a:rPr lang="en-GB" dirty="0"/>
              <a:t>**“After fine-tuning, the improvements are very clear.</a:t>
            </a:r>
            <a:br>
              <a:rPr lang="en-GB" dirty="0"/>
            </a:br>
            <a:r>
              <a:rPr lang="en-GB" dirty="0"/>
              <a:t>Accuracy and F1 increase by </a:t>
            </a:r>
            <a:r>
              <a:rPr lang="en-GB" b="1" dirty="0"/>
              <a:t>35–50% across all models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For example:</a:t>
            </a:r>
            <a:br>
              <a:rPr lang="en-GB" dirty="0"/>
            </a:br>
            <a:r>
              <a:rPr lang="en-GB" dirty="0"/>
              <a:t>Llama-3.1-8B jumps from </a:t>
            </a:r>
            <a:r>
              <a:rPr lang="en-GB" b="1" dirty="0"/>
              <a:t>17% to 74%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and Ministral-8B from </a:t>
            </a:r>
            <a:r>
              <a:rPr lang="en-GB" b="1" dirty="0"/>
              <a:t>33% to 77%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Most important: fine-tuned small models now match or beat larger base models. This shows fine-tuning has a big impact.”**</a:t>
            </a:r>
          </a:p>
          <a:p>
            <a:endParaRPr lang="en-GB" dirty="0"/>
          </a:p>
          <a:p>
            <a:r>
              <a:rPr lang="en-GB" dirty="0"/>
              <a:t>“Tool-related metrics also improve.</a:t>
            </a:r>
            <a:br>
              <a:rPr lang="en-GB" dirty="0"/>
            </a:br>
            <a:r>
              <a:rPr lang="en-GB" dirty="0"/>
              <a:t>Tool Usage Detection and Tool Selection stay very high, around </a:t>
            </a:r>
            <a:r>
              <a:rPr lang="en-GB" b="1" dirty="0"/>
              <a:t>95–100%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Parameter Completeness improves by </a:t>
            </a:r>
            <a:r>
              <a:rPr lang="en-GB" b="1" dirty="0"/>
              <a:t>30–40%</a:t>
            </a:r>
            <a:r>
              <a:rPr lang="en-GB" dirty="0"/>
              <a:t>, but there is still room for improvement.”</a:t>
            </a:r>
          </a:p>
          <a:p>
            <a:endParaRPr lang="en-GB" dirty="0"/>
          </a:p>
          <a:p>
            <a:r>
              <a:rPr lang="en-GB" dirty="0"/>
              <a:t>“Finally, we applied hyperparameter tuning to the Ministral-8B model.</a:t>
            </a:r>
            <a:br>
              <a:rPr lang="en-GB" dirty="0"/>
            </a:br>
            <a:r>
              <a:rPr lang="en-GB" dirty="0"/>
              <a:t>This gave small but meaningful gains:</a:t>
            </a:r>
            <a:br>
              <a:rPr lang="en-GB" dirty="0"/>
            </a:br>
            <a:r>
              <a:rPr lang="en-GB" dirty="0"/>
              <a:t>accuracy improves from </a:t>
            </a:r>
            <a:r>
              <a:rPr lang="en-GB" b="1" dirty="0"/>
              <a:t>77% to 79%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precision increases from </a:t>
            </a:r>
            <a:r>
              <a:rPr lang="en-GB" b="1" dirty="0"/>
              <a:t>56% to 63%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and parameter completeness rises from </a:t>
            </a:r>
            <a:r>
              <a:rPr lang="en-GB" b="1" dirty="0"/>
              <a:t>58% to 65%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242CD-F9D7-F8EC-29EF-8654E9C82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7DA45D-117B-4B98-B32B-FECC160B57D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3713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ADA1-CD74-3A6F-B5B3-B730026A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DB3E6-284A-63E9-C28C-F227C2B6B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F165B-8B37-FEAF-9519-B3855762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 close the single-turn results, this slide shows the cross-model benchmarking. Here you can see how baselines, fine-tuned models, and hyperparameter-tuned models compare across all metrics.”“</a:t>
            </a:r>
          </a:p>
          <a:p>
            <a:r>
              <a:rPr lang="en-GB" dirty="0"/>
              <a:t>The </a:t>
            </a:r>
            <a:r>
              <a:rPr lang="en-GB" b="1" dirty="0"/>
              <a:t>orange bars</a:t>
            </a:r>
            <a:r>
              <a:rPr lang="en-GB" dirty="0"/>
              <a:t> represent GPT-5,</a:t>
            </a:r>
            <a:br>
              <a:rPr lang="en-GB" dirty="0"/>
            </a:br>
            <a:r>
              <a:rPr lang="en-GB" dirty="0"/>
              <a:t>the </a:t>
            </a:r>
            <a:r>
              <a:rPr lang="en-GB" b="1" dirty="0"/>
              <a:t>yellow bars</a:t>
            </a:r>
            <a:r>
              <a:rPr lang="en-GB" dirty="0"/>
              <a:t> represent the fine-tuned Qwen3-14B model,</a:t>
            </a:r>
            <a:br>
              <a:rPr lang="en-GB" dirty="0"/>
            </a:br>
            <a:r>
              <a:rPr lang="en-GB" dirty="0"/>
              <a:t>and the </a:t>
            </a:r>
            <a:r>
              <a:rPr lang="en-GB" b="1" dirty="0"/>
              <a:t>green bars</a:t>
            </a:r>
            <a:r>
              <a:rPr lang="en-GB" dirty="0"/>
              <a:t> show the hyperparameter-tuned Ministral-8B model.</a:t>
            </a:r>
          </a:p>
          <a:p>
            <a:endParaRPr lang="en-GB" dirty="0"/>
          </a:p>
          <a:p>
            <a:r>
              <a:rPr lang="en-GB" dirty="0"/>
              <a:t>GPT-5 performs strongly across most metrics, as expected for a large proprietary model. </a:t>
            </a:r>
          </a:p>
          <a:p>
            <a:r>
              <a:rPr lang="en-GB" dirty="0"/>
              <a:t>But what is important here is that both open-source models come very close, especially the </a:t>
            </a:r>
            <a:r>
              <a:rPr lang="en-GB" b="1" dirty="0"/>
              <a:t>green hp-ft-Ministral-8B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It matches GPT-5 in several areas and even performs better in recall, tool-usage detection, and stability.</a:t>
            </a:r>
            <a:br>
              <a:rPr lang="en-GB" dirty="0"/>
            </a:br>
            <a:r>
              <a:rPr lang="en-GB" dirty="0"/>
              <a:t>This shows that with the right fine-tuning and optimization, smaller open-source models can reach enterprise-level reliability without needing huge models like GPT-5.”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8FF0C-10BA-1E9A-B4A2-F52E9353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7DA45D-117B-4B98-B32B-FECC160B57D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835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“Now moving to multi-turn results.</a:t>
            </a:r>
          </a:p>
          <a:p>
            <a:endParaRPr lang="en-IN" dirty="0"/>
          </a:p>
          <a:p>
            <a:r>
              <a:rPr lang="en-GB" dirty="0"/>
              <a:t>“In the baseline comparison, both GPT-5 and Qwen3-14B struggle.</a:t>
            </a:r>
            <a:br>
              <a:rPr lang="en-GB" dirty="0"/>
            </a:br>
            <a:r>
              <a:rPr lang="en-GB" dirty="0"/>
              <a:t>GPT-5 reaches around </a:t>
            </a:r>
            <a:r>
              <a:rPr lang="en-GB" b="1" dirty="0"/>
              <a:t>35% CSR</a:t>
            </a:r>
            <a:r>
              <a:rPr lang="en-GB" dirty="0"/>
              <a:t>, while Qwen is slightly higher at </a:t>
            </a:r>
            <a:r>
              <a:rPr lang="en-GB" b="1" dirty="0"/>
              <a:t>41%</a:t>
            </a:r>
            <a:r>
              <a:rPr lang="en-GB" dirty="0"/>
              <a:t>. </a:t>
            </a:r>
          </a:p>
          <a:p>
            <a:r>
              <a:rPr lang="en-GB" dirty="0"/>
              <a:t>So even strong models fail when the task needs multiple turns and clarifications.”</a:t>
            </a:r>
          </a:p>
          <a:p>
            <a:endParaRPr lang="en-GB" dirty="0"/>
          </a:p>
          <a:p>
            <a:r>
              <a:rPr lang="en-GB" dirty="0"/>
              <a:t>“After fine-tuning, Qwen3-14B improves sharply.</a:t>
            </a:r>
            <a:br>
              <a:rPr lang="en-GB" dirty="0"/>
            </a:br>
            <a:r>
              <a:rPr lang="en-GB" dirty="0"/>
              <a:t>CSR jumps from </a:t>
            </a:r>
            <a:r>
              <a:rPr lang="en-GB" b="1" dirty="0"/>
              <a:t>41% to 79%</a:t>
            </a:r>
            <a:r>
              <a:rPr lang="en-GB" dirty="0"/>
              <a:t>, CHR from </a:t>
            </a:r>
            <a:r>
              <a:rPr lang="en-GB" b="1" dirty="0"/>
              <a:t>39% to 78%</a:t>
            </a:r>
            <a:r>
              <a:rPr lang="en-GB" dirty="0"/>
              <a:t>, and PCR from </a:t>
            </a:r>
            <a:r>
              <a:rPr lang="en-GB" b="1" dirty="0"/>
              <a:t>41% to 76%</a:t>
            </a:r>
            <a:r>
              <a:rPr lang="en-GB" dirty="0"/>
              <a:t>.</a:t>
            </a:r>
          </a:p>
          <a:p>
            <a:r>
              <a:rPr lang="en-GB" dirty="0"/>
              <a:t>This shows the model learns to ask for missing information instead of guessing, and completes tool calls more accurately.”</a:t>
            </a:r>
          </a:p>
          <a:p>
            <a:endParaRPr lang="en-IN" dirty="0"/>
          </a:p>
          <a:p>
            <a:r>
              <a:rPr lang="en-GB" dirty="0"/>
              <a:t>“With hyperparameter tuning, performance becomes even more stable.</a:t>
            </a:r>
            <a:br>
              <a:rPr lang="en-GB" dirty="0"/>
            </a:br>
            <a:r>
              <a:rPr lang="en-GB" dirty="0"/>
              <a:t>The tuned Qwen reaches around </a:t>
            </a:r>
            <a:r>
              <a:rPr lang="en-GB" b="1" dirty="0"/>
              <a:t>82–83%</a:t>
            </a:r>
            <a:r>
              <a:rPr lang="en-GB" dirty="0"/>
              <a:t> across all three metrics.</a:t>
            </a:r>
            <a:br>
              <a:rPr lang="en-GB" dirty="0"/>
            </a:br>
            <a:r>
              <a:rPr lang="en-GB" dirty="0"/>
              <a:t>So fine-tuning plus optimization makes multi-turn performance reliable and usable in real workflows.”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29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643904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summarises the cross-model benchmarking for multi-turn tasks.</a:t>
            </a:r>
          </a:p>
          <a:p>
            <a:r>
              <a:rPr lang="en-GB" dirty="0"/>
              <a:t>“In this bar chart, the </a:t>
            </a:r>
            <a:r>
              <a:rPr lang="en-GB" b="1" dirty="0"/>
              <a:t>blue</a:t>
            </a:r>
            <a:r>
              <a:rPr lang="en-GB" dirty="0"/>
              <a:t> bars are GPT-5, </a:t>
            </a:r>
            <a:r>
              <a:rPr lang="en-GB" b="1" dirty="0"/>
              <a:t>orange</a:t>
            </a:r>
            <a:r>
              <a:rPr lang="en-GB" dirty="0"/>
              <a:t> is base Qwen3-14B, </a:t>
            </a:r>
            <a:r>
              <a:rPr lang="en-GB" b="1" dirty="0" err="1"/>
              <a:t>gray</a:t>
            </a:r>
            <a:r>
              <a:rPr lang="en-GB" dirty="0"/>
              <a:t> is fine-tuned Qwen, and </a:t>
            </a:r>
            <a:r>
              <a:rPr lang="en-GB" b="1" dirty="0"/>
              <a:t>yellow</a:t>
            </a:r>
            <a:r>
              <a:rPr lang="en-GB" dirty="0"/>
              <a:t> is the hyperparameter-tuned Qwen.</a:t>
            </a:r>
          </a:p>
          <a:p>
            <a:endParaRPr lang="en-GB" dirty="0"/>
          </a:p>
          <a:p>
            <a:r>
              <a:rPr lang="en-GB" dirty="0"/>
              <a:t>We can see that the </a:t>
            </a:r>
            <a:r>
              <a:rPr lang="en-GB" b="1" dirty="0"/>
              <a:t>yellow model clearly leads</a:t>
            </a:r>
            <a:r>
              <a:rPr lang="en-GB" dirty="0"/>
              <a:t> across all metrics, reaching around 82–83%.</a:t>
            </a:r>
            <a:br>
              <a:rPr lang="en-GB" dirty="0"/>
            </a:br>
            <a:r>
              <a:rPr lang="en-GB" dirty="0"/>
              <a:t>The </a:t>
            </a:r>
            <a:r>
              <a:rPr lang="en-GB" dirty="0" err="1"/>
              <a:t>gray</a:t>
            </a:r>
            <a:r>
              <a:rPr lang="en-GB" dirty="0"/>
              <a:t> model also performs strong, while both GPT-5 and the base Qwen model stay low, around 30–40%.</a:t>
            </a:r>
          </a:p>
          <a:p>
            <a:endParaRPr lang="en-GB" dirty="0"/>
          </a:p>
          <a:p>
            <a:r>
              <a:rPr lang="en-GB" dirty="0"/>
              <a:t>This shows that with proper fine-tuning and optimization, a smaller model like Qwen3-14B can even outperform large proprietary models in multi-turn tasks.”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99891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“Next, let’s look at the limitations of this study and possible future directions.”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686614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**“This study focuses only on single-turn and multi-turn function calling.</a:t>
            </a:r>
            <a:br>
              <a:rPr lang="en-GB" dirty="0"/>
            </a:br>
            <a:r>
              <a:rPr lang="en-GB" dirty="0"/>
              <a:t>Parallel calls are not evaluated, and nested or multi-step tool calls are not included.</a:t>
            </a:r>
          </a:p>
          <a:p>
            <a:endParaRPr lang="en-GB" dirty="0"/>
          </a:p>
          <a:p>
            <a:r>
              <a:rPr lang="en-GB" dirty="0"/>
              <a:t>For fine-tuning, only </a:t>
            </a:r>
            <a:r>
              <a:rPr lang="en-GB" dirty="0" err="1"/>
              <a:t>QLoRA</a:t>
            </a:r>
            <a:r>
              <a:rPr lang="en-GB" dirty="0"/>
              <a:t> is used.</a:t>
            </a:r>
            <a:br>
              <a:rPr lang="en-GB" dirty="0"/>
            </a:br>
            <a:r>
              <a:rPr lang="en-GB" dirty="0"/>
              <a:t>Other methods like adapter tuning, prefix tuning, or prompt-based tuning can be tested to compare efficiency and generalization.</a:t>
            </a:r>
          </a:p>
          <a:p>
            <a:endParaRPr lang="en-GB" dirty="0"/>
          </a:p>
          <a:p>
            <a:r>
              <a:rPr lang="en-GB" dirty="0"/>
              <a:t>The dataset is synthetic, so it may not fully reflect real user behaviour.</a:t>
            </a:r>
            <a:br>
              <a:rPr lang="en-GB" dirty="0"/>
            </a:br>
            <a:r>
              <a:rPr lang="en-GB" dirty="0"/>
              <a:t>It does not cover long dialogues, intent shifts, or parameter overwriting.</a:t>
            </a:r>
          </a:p>
          <a:p>
            <a:r>
              <a:rPr lang="en-GB" dirty="0"/>
              <a:t>intent shifts -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the user completely changes the goal of the conversation mid-way.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User: "Book a flight to Paris."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[Assistant starts gathering details]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User: "Actually,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nevermind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What's the weather in Tokyo?"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The model should drop the flight booking and answer the new weather question.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parameter overwriting -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the user corrects or changes a detail they provided earlier.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User: "Schedule a meeting for 3 PM."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[Assistant acknowledges]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User: "Sorry, I meant 4 PM."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The model must use the new time (4 PM) and ignore the old one (3 PM).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  <a:p>
            <a:r>
              <a:rPr lang="en-GB" dirty="0"/>
              <a:t>Model selection is also limited to medium and large models.</a:t>
            </a:r>
            <a:br>
              <a:rPr lang="en-GB" dirty="0"/>
            </a:br>
            <a:r>
              <a:rPr lang="en-GB" dirty="0"/>
              <a:t>We did not test smaller 1B-3B models that are suitable for edge deployment.</a:t>
            </a:r>
          </a:p>
          <a:p>
            <a:endParaRPr lang="en-GB" dirty="0"/>
          </a:p>
          <a:p>
            <a:r>
              <a:rPr lang="en-GB" dirty="0"/>
              <a:t>Future work can extend the evaluation to parallel and nested calls, explore other fine-tuning approaches, use more realistic datasets, and include lightweight models.”**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425180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“Finally, let me conclude the main findings of this work.”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682601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 conclude, this study provides a clear evaluation of function calling in LLMs for both single-turn and multi-turn tasks.</a:t>
            </a:r>
          </a:p>
          <a:p>
            <a:br>
              <a:rPr lang="en-GB" dirty="0"/>
            </a:br>
            <a:r>
              <a:rPr lang="en-GB" dirty="0"/>
              <a:t>Fine-tuning with </a:t>
            </a:r>
            <a:r>
              <a:rPr lang="en-GB" dirty="0" err="1"/>
              <a:t>QLoRA</a:t>
            </a:r>
            <a:r>
              <a:rPr lang="en-GB" dirty="0"/>
              <a:t> improves accuracy and helps the model generate more complete and correct function calls.</a:t>
            </a:r>
          </a:p>
          <a:p>
            <a:br>
              <a:rPr lang="en-GB" dirty="0"/>
            </a:br>
            <a:r>
              <a:rPr lang="en-GB" dirty="0"/>
              <a:t>Hyperparameter tuning also plays an important role. It makes the model more stable and improves generalization.</a:t>
            </a:r>
          </a:p>
          <a:p>
            <a:br>
              <a:rPr lang="en-GB" dirty="0"/>
            </a:br>
            <a:r>
              <a:rPr lang="en-GB" dirty="0"/>
              <a:t>We see that smaller well-tuned models can match or even surpass larger models for function-calling tasks.</a:t>
            </a:r>
          </a:p>
          <a:p>
            <a:br>
              <a:rPr lang="en-GB" dirty="0"/>
            </a:br>
            <a:r>
              <a:rPr lang="en-GB" dirty="0"/>
              <a:t>Overall, this work gives a strong base for building stable and practical LLM-based agent systems for real enterprise use cases.”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180351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“Thank you for your attention.</a:t>
            </a:r>
            <a:br>
              <a:rPr lang="en-GB" dirty="0"/>
            </a:br>
            <a:r>
              <a:rPr lang="en-GB" dirty="0"/>
              <a:t>I am happy to take your questions.”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A45D-117B-4B98-B32B-FECC160B57D5}" type="slidenum">
              <a:rPr lang="en-US" noProof="0" smtClean="0"/>
              <a:t>35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6910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892DD1DF-1BD4-45AD-8FE6-7EE527498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17" name="Subtitel">
            <a:extLst>
              <a:ext uri="{FF2B5EF4-FFF2-40B4-BE49-F238E27FC236}">
                <a16:creationId xmlns:a16="http://schemas.microsoft.com/office/drawing/2014/main" id="{5EAD28ED-1E62-43EE-A9F5-6A67CC6CCA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Add subtitle by clicking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4036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: Kurz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Fraunhofer">
            <a:extLst>
              <a:ext uri="{FF2B5EF4-FFF2-40B4-BE49-F238E27FC236}">
                <a16:creationId xmlns:a16="http://schemas.microsoft.com/office/drawing/2014/main" id="{AE62197F-7967-487E-BBE1-A66A849D0BD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8669929" y="2529001"/>
            <a:ext cx="2646344" cy="719711"/>
          </a:xfrm>
          <a:prstGeom prst="rect">
            <a:avLst/>
          </a:prstGeom>
        </p:spPr>
      </p:pic>
      <p:pic>
        <p:nvPicPr>
          <p:cNvPr id="8" name="LOGO Heinz Nixdorf Institute" descr="Ein Bild, das Teller, Zeichnung, Schild enthält.&#10;&#10;Automatisch generierte Beschreibung">
            <a:extLst>
              <a:ext uri="{FF2B5EF4-FFF2-40B4-BE49-F238E27FC236}">
                <a16:creationId xmlns:a16="http://schemas.microsoft.com/office/drawing/2014/main" id="{A9E61F49-A669-40B3-B54D-E61500FA638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669929" y="3915056"/>
            <a:ext cx="2646344" cy="413945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43F8CB28-071C-4C08-82A8-D2F86104833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81288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CDEFBE80-BD3A-4304-BC86-E4F72B17A05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0" y="0"/>
            <a:ext cx="81288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 dirty="0"/>
              <a:t> 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5A61E54-8DA9-4B22-A8A3-0CA08377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75658" y="2619000"/>
            <a:ext cx="6710400" cy="1620000"/>
          </a:xfrm>
        </p:spPr>
        <p:txBody>
          <a:bodyPr anchor="ctr" anchorCtr="0"/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title by clicking</a:t>
            </a:r>
          </a:p>
        </p:txBody>
      </p:sp>
      <p:grpSp>
        <p:nvGrpSpPr>
          <p:cNvPr id="2" name="NOTE">
            <a:extLst>
              <a:ext uri="{FF2B5EF4-FFF2-40B4-BE49-F238E27FC236}">
                <a16:creationId xmlns:a16="http://schemas.microsoft.com/office/drawing/2014/main" id="{BEE727B3-61FF-459C-B018-6A61AAB88875}"/>
              </a:ext>
            </a:extLst>
          </p:cNvPr>
          <p:cNvGrpSpPr/>
          <p:nvPr userDrawn="1"/>
        </p:nvGrpSpPr>
        <p:grpSpPr bwMode="gray">
          <a:xfrm>
            <a:off x="12193586" y="0"/>
            <a:ext cx="2834525" cy="1082854"/>
            <a:chOff x="12190411" y="441323"/>
            <a:chExt cx="2833787" cy="1082572"/>
          </a:xfrm>
        </p:grpSpPr>
        <p:sp>
          <p:nvSpPr>
            <p:cNvPr id="10" name="Form">
              <a:extLst>
                <a:ext uri="{FF2B5EF4-FFF2-40B4-BE49-F238E27FC236}">
                  <a16:creationId xmlns:a16="http://schemas.microsoft.com/office/drawing/2014/main" id="{984A093C-52B8-4279-966F-9046D2CA3571}"/>
                </a:ext>
              </a:extLst>
            </p:cNvPr>
            <p:cNvSpPr/>
            <p:nvPr/>
          </p:nvSpPr>
          <p:spPr bwMode="gray">
            <a:xfrm>
              <a:off x="12190412" y="441323"/>
              <a:ext cx="2833786" cy="10795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168" tIns="0" rIns="36010" bIns="0" rtlCol="0" anchor="ctr"/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noProof="0" dirty="0"/>
                <a:t>Gradient over image</a:t>
              </a:r>
              <a:br>
                <a:rPr lang="en-US" sz="1200" b="1" noProof="0" dirty="0"/>
              </a:br>
              <a:r>
                <a:rPr lang="en-US" sz="1200" b="1" noProof="0" dirty="0"/>
                <a:t>can be shown/hidden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800" noProof="0" dirty="0"/>
                <a:t>Click on area with gradient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o</a:t>
              </a:r>
              <a:r>
                <a:rPr lang="en-US" sz="800" noProof="0" dirty="0"/>
                <a:t>ver menu "Start“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tab "Edit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"Mark“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"Selection range”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l</a:t>
              </a:r>
              <a:r>
                <a:rPr lang="en-US" sz="800" noProof="0" dirty="0"/>
                <a:t>ayer "Layer" deactivate symbol "eye”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select layer "Image" to change the motive </a:t>
              </a:r>
              <a:endParaRPr lang="en-US" sz="800" noProof="0" dirty="0"/>
            </a:p>
          </p:txBody>
        </p:sp>
        <p:sp>
          <p:nvSpPr>
            <p:cNvPr id="11" name="Form">
              <a:extLst>
                <a:ext uri="{FF2B5EF4-FFF2-40B4-BE49-F238E27FC236}">
                  <a16:creationId xmlns:a16="http://schemas.microsoft.com/office/drawing/2014/main" id="{A9CED9AC-7A44-4640-B374-790A91CADD7F}"/>
                </a:ext>
              </a:extLst>
            </p:cNvPr>
            <p:cNvSpPr/>
            <p:nvPr/>
          </p:nvSpPr>
          <p:spPr bwMode="gray">
            <a:xfrm>
              <a:off x="12190411" y="441323"/>
              <a:ext cx="637541" cy="1082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10" tIns="36010" rIns="36010" bIns="36010" rtlCol="0" anchor="t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r>
                <a:rPr lang="en-US" sz="7202" noProof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44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: Kurz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Fraunhofer">
            <a:extLst>
              <a:ext uri="{FF2B5EF4-FFF2-40B4-BE49-F238E27FC236}">
                <a16:creationId xmlns:a16="http://schemas.microsoft.com/office/drawing/2014/main" id="{AE62197F-7967-487E-BBE1-A66A849D0BD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8669929" y="2529001"/>
            <a:ext cx="2646344" cy="719711"/>
          </a:xfrm>
          <a:prstGeom prst="rect">
            <a:avLst/>
          </a:prstGeom>
        </p:spPr>
      </p:pic>
      <p:pic>
        <p:nvPicPr>
          <p:cNvPr id="8" name="LOGO Heinz Nixdorf Institute" descr="Ein Bild, das Teller, Zeichnung, Schild enthält.&#10;&#10;Automatisch generierte Beschreibung">
            <a:extLst>
              <a:ext uri="{FF2B5EF4-FFF2-40B4-BE49-F238E27FC236}">
                <a16:creationId xmlns:a16="http://schemas.microsoft.com/office/drawing/2014/main" id="{A9E61F49-A669-40B3-B54D-E61500FA638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669929" y="3915056"/>
            <a:ext cx="2646344" cy="413945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43F8CB28-071C-4C08-82A8-D2F86104833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81288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CDEFBE80-BD3A-4304-BC86-E4F72B17A05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0" y="0"/>
            <a:ext cx="81288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5A61E54-8DA9-4B22-A8A3-0CA08377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75658" y="1396800"/>
            <a:ext cx="6710400" cy="1620000"/>
          </a:xfrm>
        </p:spPr>
        <p:txBody>
          <a:bodyPr anchor="b" anchorCtr="0"/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title by clicking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2F5AE2AE-F80E-4C61-9FAB-76AA4CB889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75782" y="3195000"/>
            <a:ext cx="6710276" cy="360000"/>
          </a:xfrm>
        </p:spPr>
        <p:txBody>
          <a:bodyPr anchor="t" anchorCtr="0"/>
          <a:lstStyle>
            <a:lvl1pPr marL="0" indent="0" algn="r">
              <a:spcAft>
                <a:spcPts val="0"/>
              </a:spcAft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subtitle by clicking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A714351-0C6F-4EB3-9859-FC6F36A47C7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875782" y="4095000"/>
            <a:ext cx="6710276" cy="720000"/>
          </a:xfrm>
        </p:spPr>
        <p:txBody>
          <a:bodyPr anchor="t" anchorCtr="0"/>
          <a:lstStyle>
            <a:lvl1pPr marL="0" indent="0" algn="r">
              <a:spcAft>
                <a:spcPts val="0"/>
              </a:spcAft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grpSp>
        <p:nvGrpSpPr>
          <p:cNvPr id="3" name="NOTE">
            <a:extLst>
              <a:ext uri="{FF2B5EF4-FFF2-40B4-BE49-F238E27FC236}">
                <a16:creationId xmlns:a16="http://schemas.microsoft.com/office/drawing/2014/main" id="{13FD9BB1-2EDA-46A9-81C0-F62D8BA108CC}"/>
              </a:ext>
            </a:extLst>
          </p:cNvPr>
          <p:cNvGrpSpPr/>
          <p:nvPr userDrawn="1"/>
        </p:nvGrpSpPr>
        <p:grpSpPr bwMode="gray">
          <a:xfrm>
            <a:off x="12193586" y="0"/>
            <a:ext cx="2834525" cy="1082854"/>
            <a:chOff x="12190411" y="441323"/>
            <a:chExt cx="2833787" cy="1082572"/>
          </a:xfrm>
        </p:grpSpPr>
        <p:sp>
          <p:nvSpPr>
            <p:cNvPr id="17" name="Form">
              <a:extLst>
                <a:ext uri="{FF2B5EF4-FFF2-40B4-BE49-F238E27FC236}">
                  <a16:creationId xmlns:a16="http://schemas.microsoft.com/office/drawing/2014/main" id="{1603292C-086E-4903-A499-2F8119866EAF}"/>
                </a:ext>
              </a:extLst>
            </p:cNvPr>
            <p:cNvSpPr/>
            <p:nvPr/>
          </p:nvSpPr>
          <p:spPr bwMode="gray">
            <a:xfrm>
              <a:off x="12190412" y="441323"/>
              <a:ext cx="2833786" cy="10795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168" tIns="0" rIns="36010" bIns="0" rtlCol="0" anchor="ctr"/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noProof="0" dirty="0"/>
                <a:t>Gradient over image</a:t>
              </a:r>
              <a:br>
                <a:rPr lang="en-US" sz="1200" b="1" noProof="0" dirty="0"/>
              </a:br>
              <a:r>
                <a:rPr lang="en-US" sz="1200" b="1" noProof="0" dirty="0"/>
                <a:t>can be shown/hidden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800" noProof="0" dirty="0"/>
                <a:t>Click on area with gradient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o</a:t>
              </a:r>
              <a:r>
                <a:rPr lang="en-US" sz="800" noProof="0" dirty="0"/>
                <a:t>ver menu "Start“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tab "Edit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"Mark“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"Selection range”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l</a:t>
              </a:r>
              <a:r>
                <a:rPr lang="en-US" sz="800" noProof="0" dirty="0"/>
                <a:t>ayer "Layer" deactivate symbol "eye”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select layer "Image" to change the motive </a:t>
              </a:r>
              <a:endParaRPr lang="en-US" sz="800" noProof="0" dirty="0"/>
            </a:p>
          </p:txBody>
        </p:sp>
        <p:sp>
          <p:nvSpPr>
            <p:cNvPr id="18" name="Form">
              <a:extLst>
                <a:ext uri="{FF2B5EF4-FFF2-40B4-BE49-F238E27FC236}">
                  <a16:creationId xmlns:a16="http://schemas.microsoft.com/office/drawing/2014/main" id="{A59EFC1A-051D-49A5-840A-EFA9019CBCD1}"/>
                </a:ext>
              </a:extLst>
            </p:cNvPr>
            <p:cNvSpPr/>
            <p:nvPr/>
          </p:nvSpPr>
          <p:spPr bwMode="gray">
            <a:xfrm>
              <a:off x="12190411" y="441323"/>
              <a:ext cx="637541" cy="1082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10" tIns="36010" rIns="36010" bIns="36010" rtlCol="0" anchor="t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r>
                <a:rPr lang="en-US" sz="7202" noProof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019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: L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Fraunhofer">
            <a:extLst>
              <a:ext uri="{FF2B5EF4-FFF2-40B4-BE49-F238E27FC236}">
                <a16:creationId xmlns:a16="http://schemas.microsoft.com/office/drawing/2014/main" id="{40EC637D-CA65-42C6-98A9-E849A2ED9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10221731" y="6339600"/>
            <a:ext cx="1429386" cy="388742"/>
          </a:xfrm>
          <a:prstGeom prst="rect">
            <a:avLst/>
          </a:prstGeom>
        </p:spPr>
      </p:pic>
      <p:pic>
        <p:nvPicPr>
          <p:cNvPr id="3" name="LOGO Heinz Nixdorf Institute" descr="Ein Bild, das Teller, Zeichnung, Schild enthält.&#10;&#10;Automatisch generierte Beschreibung">
            <a:extLst>
              <a:ext uri="{FF2B5EF4-FFF2-40B4-BE49-F238E27FC236}">
                <a16:creationId xmlns:a16="http://schemas.microsoft.com/office/drawing/2014/main" id="{63A9F100-3380-4A8C-A350-85FBCC105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371090" y="6417274"/>
            <a:ext cx="1490594" cy="233161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43F8CB28-071C-4C08-82A8-D2F86104833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12192000" cy="6210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CDEFBE80-BD3A-4304-BC86-E4F72B17A05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-1" y="0"/>
            <a:ext cx="12191999" cy="6210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5A61E54-8DA9-4B22-A8A3-0CA08377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75658" y="2619000"/>
            <a:ext cx="10440000" cy="1620000"/>
          </a:xfrm>
        </p:spPr>
        <p:txBody>
          <a:bodyPr anchor="ctr" anchorCtr="0"/>
          <a:lstStyle>
            <a:lvl1pPr algn="l">
              <a:defRPr sz="4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title by clicking</a:t>
            </a:r>
          </a:p>
        </p:txBody>
      </p:sp>
      <p:grpSp>
        <p:nvGrpSpPr>
          <p:cNvPr id="5" name="NOTE">
            <a:extLst>
              <a:ext uri="{FF2B5EF4-FFF2-40B4-BE49-F238E27FC236}">
                <a16:creationId xmlns:a16="http://schemas.microsoft.com/office/drawing/2014/main" id="{7A3E22D7-7933-4688-9F9E-0A38EFBDAD7D}"/>
              </a:ext>
            </a:extLst>
          </p:cNvPr>
          <p:cNvGrpSpPr/>
          <p:nvPr userDrawn="1"/>
        </p:nvGrpSpPr>
        <p:grpSpPr bwMode="gray">
          <a:xfrm>
            <a:off x="12193586" y="0"/>
            <a:ext cx="2834525" cy="1082854"/>
            <a:chOff x="12190411" y="441323"/>
            <a:chExt cx="2833787" cy="1082572"/>
          </a:xfrm>
        </p:grpSpPr>
        <p:sp>
          <p:nvSpPr>
            <p:cNvPr id="14" name="Form">
              <a:extLst>
                <a:ext uri="{FF2B5EF4-FFF2-40B4-BE49-F238E27FC236}">
                  <a16:creationId xmlns:a16="http://schemas.microsoft.com/office/drawing/2014/main" id="{59600C17-FB22-4B28-B6F9-9B7DC0FEDC3A}"/>
                </a:ext>
              </a:extLst>
            </p:cNvPr>
            <p:cNvSpPr/>
            <p:nvPr/>
          </p:nvSpPr>
          <p:spPr bwMode="gray">
            <a:xfrm>
              <a:off x="12190412" y="441323"/>
              <a:ext cx="2833786" cy="10795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168" tIns="0" rIns="36010" bIns="0" rtlCol="0" anchor="ctr"/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noProof="0" dirty="0"/>
                <a:t>Gradient over image</a:t>
              </a:r>
              <a:br>
                <a:rPr lang="en-US" sz="1200" b="1" noProof="0" dirty="0"/>
              </a:br>
              <a:r>
                <a:rPr lang="en-US" sz="1200" b="1" noProof="0" dirty="0"/>
                <a:t>can be shown/hidden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800" noProof="0" dirty="0"/>
                <a:t>Click on area with gradient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o</a:t>
              </a:r>
              <a:r>
                <a:rPr lang="en-US" sz="800" noProof="0" dirty="0"/>
                <a:t>ver menu "Start“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tab "Edit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"Mark“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"Selection range”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l</a:t>
              </a:r>
              <a:r>
                <a:rPr lang="en-US" sz="800" noProof="0" dirty="0"/>
                <a:t>ayer "Layer" deactivate symbol "eye”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select layer "Image" to change the motive </a:t>
              </a:r>
              <a:endParaRPr lang="en-US" sz="800" noProof="0" dirty="0"/>
            </a:p>
          </p:txBody>
        </p:sp>
        <p:sp>
          <p:nvSpPr>
            <p:cNvPr id="15" name="Form">
              <a:extLst>
                <a:ext uri="{FF2B5EF4-FFF2-40B4-BE49-F238E27FC236}">
                  <a16:creationId xmlns:a16="http://schemas.microsoft.com/office/drawing/2014/main" id="{B327C171-8E28-4A3B-B5A7-5AF12C899401}"/>
                </a:ext>
              </a:extLst>
            </p:cNvPr>
            <p:cNvSpPr/>
            <p:nvPr/>
          </p:nvSpPr>
          <p:spPr bwMode="gray">
            <a:xfrm>
              <a:off x="12190411" y="441323"/>
              <a:ext cx="637541" cy="1082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10" tIns="36010" rIns="36010" bIns="36010" rtlCol="0" anchor="t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r>
                <a:rPr lang="en-US" sz="7202" noProof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128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: Lang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Fraunhofer">
            <a:extLst>
              <a:ext uri="{FF2B5EF4-FFF2-40B4-BE49-F238E27FC236}">
                <a16:creationId xmlns:a16="http://schemas.microsoft.com/office/drawing/2014/main" id="{40EC637D-CA65-42C6-98A9-E849A2ED9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10221731" y="6339600"/>
            <a:ext cx="1429386" cy="388742"/>
          </a:xfrm>
          <a:prstGeom prst="rect">
            <a:avLst/>
          </a:prstGeom>
        </p:spPr>
      </p:pic>
      <p:pic>
        <p:nvPicPr>
          <p:cNvPr id="3" name="LOGO Heinz Nixdorf Institute" descr="Ein Bild, das Teller, Zeichnung, Schild enthält.&#10;&#10;Automatisch generierte Beschreibung">
            <a:extLst>
              <a:ext uri="{FF2B5EF4-FFF2-40B4-BE49-F238E27FC236}">
                <a16:creationId xmlns:a16="http://schemas.microsoft.com/office/drawing/2014/main" id="{63A9F100-3380-4A8C-A350-85FBCC105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371090" y="6417274"/>
            <a:ext cx="1490594" cy="233161"/>
          </a:xfrm>
          <a:prstGeom prst="rect">
            <a:avLst/>
          </a:prstGeom>
        </p:spPr>
      </p:pic>
      <p:sp>
        <p:nvSpPr>
          <p:cNvPr id="12" name="Image">
            <a:extLst>
              <a:ext uri="{FF2B5EF4-FFF2-40B4-BE49-F238E27FC236}">
                <a16:creationId xmlns:a16="http://schemas.microsoft.com/office/drawing/2014/main" id="{43F8CB28-071C-4C08-82A8-D2F86104833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12192000" cy="6210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CDEFBE80-BD3A-4304-BC86-E4F72B17A05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-1" y="0"/>
            <a:ext cx="12191999" cy="6210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A5A61E54-8DA9-4B22-A8A3-0CA083778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75658" y="1396800"/>
            <a:ext cx="10440000" cy="1620000"/>
          </a:xfrm>
        </p:spPr>
        <p:txBody>
          <a:bodyPr anchor="b" anchorCtr="0"/>
          <a:lstStyle>
            <a:lvl1pPr algn="l">
              <a:defRPr sz="4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title by clicking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8684985-0BAB-4FBD-8F4F-5806C88A9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875782" y="3195000"/>
            <a:ext cx="10440438" cy="360000"/>
          </a:xfrm>
        </p:spPr>
        <p:txBody>
          <a:bodyPr anchor="t" anchorCtr="0"/>
          <a:lstStyle>
            <a:lvl1pPr marL="0" indent="0" algn="l">
              <a:spcAft>
                <a:spcPts val="0"/>
              </a:spcAft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subtitle by clicking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22C3B2F-E853-4F6E-AD8B-BD921D8C44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875782" y="4095000"/>
            <a:ext cx="10440438" cy="720000"/>
          </a:xfrm>
        </p:spPr>
        <p:txBody>
          <a:bodyPr anchor="t" anchorCtr="0"/>
          <a:lstStyle>
            <a:lvl1pPr marL="0" indent="0" algn="l">
              <a:spcAft>
                <a:spcPts val="0"/>
              </a:spcAft>
              <a:buNone/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grpSp>
        <p:nvGrpSpPr>
          <p:cNvPr id="5" name="NOTE">
            <a:extLst>
              <a:ext uri="{FF2B5EF4-FFF2-40B4-BE49-F238E27FC236}">
                <a16:creationId xmlns:a16="http://schemas.microsoft.com/office/drawing/2014/main" id="{3204656F-65C2-4CE8-92DA-C9E0ECF5FFA2}"/>
              </a:ext>
            </a:extLst>
          </p:cNvPr>
          <p:cNvGrpSpPr/>
          <p:nvPr userDrawn="1"/>
        </p:nvGrpSpPr>
        <p:grpSpPr bwMode="gray">
          <a:xfrm>
            <a:off x="12193586" y="0"/>
            <a:ext cx="2834525" cy="1082854"/>
            <a:chOff x="12190411" y="441323"/>
            <a:chExt cx="2833787" cy="1082572"/>
          </a:xfrm>
        </p:grpSpPr>
        <p:sp>
          <p:nvSpPr>
            <p:cNvPr id="16" name="Form">
              <a:extLst>
                <a:ext uri="{FF2B5EF4-FFF2-40B4-BE49-F238E27FC236}">
                  <a16:creationId xmlns:a16="http://schemas.microsoft.com/office/drawing/2014/main" id="{13F5F7C7-3A18-41DD-BCD6-5256E6BC0EF2}"/>
                </a:ext>
              </a:extLst>
            </p:cNvPr>
            <p:cNvSpPr/>
            <p:nvPr/>
          </p:nvSpPr>
          <p:spPr bwMode="gray">
            <a:xfrm>
              <a:off x="12190412" y="441323"/>
              <a:ext cx="2833786" cy="10795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168" tIns="0" rIns="36010" bIns="0" rtlCol="0" anchor="ctr"/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200" b="1" noProof="0" dirty="0"/>
                <a:t>Gradient over image</a:t>
              </a:r>
              <a:br>
                <a:rPr lang="en-US" sz="1200" b="1" noProof="0" dirty="0"/>
              </a:br>
              <a:r>
                <a:rPr lang="en-US" sz="1200" b="1" noProof="0" dirty="0"/>
                <a:t>can be shown/hidden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800" noProof="0" dirty="0"/>
                <a:t>Click on area with gradient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o</a:t>
              </a:r>
              <a:r>
                <a:rPr lang="en-US" sz="800" noProof="0" dirty="0"/>
                <a:t>ver menu "Start“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tab "Edit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"Mark“ </a:t>
              </a:r>
              <a:r>
                <a:rPr lang="en-US" sz="800" noProof="0" dirty="0">
                  <a:sym typeface="Wingdings" panose="05000000000000000000" pitchFamily="2" charset="2"/>
                </a:rPr>
                <a:t> </a:t>
              </a:r>
              <a:r>
                <a:rPr lang="en-US" sz="800" noProof="0" dirty="0"/>
                <a:t>"Selection range”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l</a:t>
              </a:r>
              <a:r>
                <a:rPr lang="en-US" sz="800" noProof="0" dirty="0"/>
                <a:t>ayer "Layer" deactivate symbol "eye”</a:t>
              </a:r>
              <a:br>
                <a:rPr lang="en-US" sz="800" noProof="0" dirty="0"/>
              </a:br>
              <a:r>
                <a:rPr lang="en-US" sz="800" noProof="0" dirty="0">
                  <a:sym typeface="Wingdings" panose="05000000000000000000" pitchFamily="2" charset="2"/>
                </a:rPr>
                <a:t> select layer "Image" to change the motive </a:t>
              </a:r>
              <a:endParaRPr lang="en-US" sz="800" noProof="0" dirty="0"/>
            </a:p>
          </p:txBody>
        </p:sp>
        <p:sp>
          <p:nvSpPr>
            <p:cNvPr id="17" name="Form">
              <a:extLst>
                <a:ext uri="{FF2B5EF4-FFF2-40B4-BE49-F238E27FC236}">
                  <a16:creationId xmlns:a16="http://schemas.microsoft.com/office/drawing/2014/main" id="{E6DF700C-E547-4C2C-93F2-A14CA4BFACE7}"/>
                </a:ext>
              </a:extLst>
            </p:cNvPr>
            <p:cNvSpPr/>
            <p:nvPr/>
          </p:nvSpPr>
          <p:spPr bwMode="gray">
            <a:xfrm>
              <a:off x="12190411" y="441323"/>
              <a:ext cx="637541" cy="10825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10" tIns="36010" rIns="36010" bIns="36010" rtlCol="0" anchor="t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r>
                <a:rPr lang="en-US" sz="7202" noProof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22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>
            <a:extLst>
              <a:ext uri="{FF2B5EF4-FFF2-40B4-BE49-F238E27FC236}">
                <a16:creationId xmlns:a16="http://schemas.microsoft.com/office/drawing/2014/main" id="{C7713EAA-BA41-490B-8CE1-038D6730C31D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8127600" y="0"/>
            <a:ext cx="40644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13" name="Layer">
            <a:extLst>
              <a:ext uri="{FF2B5EF4-FFF2-40B4-BE49-F238E27FC236}">
                <a16:creationId xmlns:a16="http://schemas.microsoft.com/office/drawing/2014/main" id="{69A49421-6408-416A-B747-27993D93BA7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8127600" y="0"/>
            <a:ext cx="40644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3" name="Logo 1">
            <a:extLst>
              <a:ext uri="{FF2B5EF4-FFF2-40B4-BE49-F238E27FC236}">
                <a16:creationId xmlns:a16="http://schemas.microsoft.com/office/drawing/2014/main" id="{0FF1132E-2C16-4861-A4BA-0B502A04A2FF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6" name="Logo 2">
            <a:extLst>
              <a:ext uri="{FF2B5EF4-FFF2-40B4-BE49-F238E27FC236}">
                <a16:creationId xmlns:a16="http://schemas.microsoft.com/office/drawing/2014/main" id="{23983033-33B4-4D71-8D84-CDF0D40300A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892DD1DF-1BD4-45AD-8FE6-7EE527498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327528" y="1511998"/>
            <a:ext cx="6260400" cy="900000"/>
          </a:xfrm>
        </p:spPr>
        <p:txBody>
          <a:bodyPr anchor="b" anchorCtr="0"/>
          <a:lstStyle>
            <a:lvl1pPr>
              <a:defRPr sz="4000" cap="all" baseline="0"/>
            </a:lvl1pPr>
          </a:lstStyle>
          <a:p>
            <a:r>
              <a:rPr lang="en-US" noProof="0" dirty="0"/>
              <a:t>Add title by clicking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88BE5F8-D5B2-46B2-962A-6F6DDF9FBF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1327528" y="2889504"/>
            <a:ext cx="6260400" cy="2455200"/>
          </a:xfrm>
        </p:spPr>
        <p:txBody>
          <a:bodyPr/>
          <a:lstStyle>
            <a:lvl1pPr marL="450000" indent="-450000">
              <a:buFont typeface="+mj-lt"/>
              <a:buAutoNum type="arabicPeriod"/>
              <a:defRPr sz="2000"/>
            </a:lvl1pPr>
            <a:lvl2pPr marL="648065" indent="-324032">
              <a:buSzPct val="100000"/>
              <a:buFont typeface="+mj-lt"/>
              <a:buAutoNum type="arabicPeriod"/>
              <a:defRPr/>
            </a:lvl2pPr>
            <a:lvl3pPr marL="648065" indent="0">
              <a:buSzPct val="100000"/>
              <a:buFont typeface="+mj-lt"/>
              <a:buNone/>
              <a:defRPr/>
            </a:lvl3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406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>
            <a:extLst>
              <a:ext uri="{FF2B5EF4-FFF2-40B4-BE49-F238E27FC236}">
                <a16:creationId xmlns:a16="http://schemas.microsoft.com/office/drawing/2014/main" id="{C7713EAA-BA41-490B-8CE1-038D6730C31D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8127600" y="0"/>
            <a:ext cx="40644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13" name="Layer">
            <a:extLst>
              <a:ext uri="{FF2B5EF4-FFF2-40B4-BE49-F238E27FC236}">
                <a16:creationId xmlns:a16="http://schemas.microsoft.com/office/drawing/2014/main" id="{69A49421-6408-416A-B747-27993D93BA7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8127600" y="0"/>
            <a:ext cx="40644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3" name="Logo 1">
            <a:extLst>
              <a:ext uri="{FF2B5EF4-FFF2-40B4-BE49-F238E27FC236}">
                <a16:creationId xmlns:a16="http://schemas.microsoft.com/office/drawing/2014/main" id="{0FF1132E-2C16-4861-A4BA-0B502A04A2FF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6" name="Logo 2">
            <a:extLst>
              <a:ext uri="{FF2B5EF4-FFF2-40B4-BE49-F238E27FC236}">
                <a16:creationId xmlns:a16="http://schemas.microsoft.com/office/drawing/2014/main" id="{23983033-33B4-4D71-8D84-CDF0D40300A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91C9BC3-1D8F-4CA1-A0BA-E518069BE6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263529" y="2529000"/>
            <a:ext cx="5324400" cy="1800000"/>
          </a:xfrm>
        </p:spPr>
        <p:txBody>
          <a:bodyPr anchor="b" anchorCtr="0"/>
          <a:lstStyle>
            <a:lvl1pPr algn="r">
              <a:defRPr sz="4000" cap="all" baseline="0"/>
            </a:lvl1pPr>
          </a:lstStyle>
          <a:p>
            <a:pPr lvl="0"/>
            <a:r>
              <a:rPr lang="en-US" noProof="0" dirty="0"/>
              <a:t>Add chapter text by clicking</a:t>
            </a:r>
          </a:p>
        </p:txBody>
      </p:sp>
      <p:sp>
        <p:nvSpPr>
          <p:cNvPr id="15" name="Number">
            <a:extLst>
              <a:ext uri="{FF2B5EF4-FFF2-40B4-BE49-F238E27FC236}">
                <a16:creationId xmlns:a16="http://schemas.microsoft.com/office/drawing/2014/main" id="{FE3927BB-AA84-4142-8FEA-4C72BF3E05CF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 bwMode="gray">
          <a:xfrm>
            <a:off x="8128000" y="2529000"/>
            <a:ext cx="1800234" cy="1800000"/>
          </a:xfrm>
          <a:noFill/>
        </p:spPr>
        <p:txBody>
          <a:bodyPr anchor="ctr" anchorCtr="0"/>
          <a:lstStyle>
            <a:lvl1pPr marL="0" indent="0" algn="ctr">
              <a:buNone/>
              <a:defRPr sz="7201" b="1">
                <a:solidFill>
                  <a:schemeClr val="bg1"/>
                </a:solidFill>
              </a:defRPr>
            </a:lvl1pPr>
            <a:lvl2pPr>
              <a:defRPr sz="7201"/>
            </a:lvl2pPr>
            <a:lvl3pPr>
              <a:defRPr sz="7201"/>
            </a:lvl3pPr>
            <a:lvl4pPr>
              <a:defRPr sz="7201"/>
            </a:lvl4pPr>
            <a:lvl5pPr>
              <a:defRPr sz="7201"/>
            </a:lvl5pPr>
          </a:lstStyle>
          <a:p>
            <a:pPr lvl="0"/>
            <a:r>
              <a:rPr lang="en-US" noProof="0" dirty="0"/>
              <a:t>No.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6636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-spaltig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892DD1DF-1BD4-45AD-8FE6-7EE527498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Add title by clicking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5EAD28ED-1E62-43EE-A9F5-6A67CC6CCA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Add subtitle by clicking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D520D923-24F5-4C84-AD35-332D2C60ADF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540071" y="1511300"/>
            <a:ext cx="11109600" cy="4698000"/>
          </a:xfrm>
        </p:spPr>
        <p:txBody>
          <a:bodyPr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272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spaltig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892DD1DF-1BD4-45AD-8FE6-7EE527498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5EAD28ED-1E62-43EE-A9F5-6A67CC6CCA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Add subtitle by clicking</a:t>
            </a:r>
          </a:p>
        </p:txBody>
      </p:sp>
      <p:sp>
        <p:nvSpPr>
          <p:cNvPr id="6" name="Content 1">
            <a:extLst>
              <a:ext uri="{FF2B5EF4-FFF2-40B4-BE49-F238E27FC236}">
                <a16:creationId xmlns:a16="http://schemas.microsoft.com/office/drawing/2014/main" id="{D520D923-24F5-4C84-AD35-332D2C60ADF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540071" y="1511300"/>
            <a:ext cx="5418000" cy="4698000"/>
          </a:xfrm>
        </p:spPr>
        <p:txBody>
          <a:bodyPr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2">
            <a:extLst>
              <a:ext uri="{FF2B5EF4-FFF2-40B4-BE49-F238E27FC236}">
                <a16:creationId xmlns:a16="http://schemas.microsoft.com/office/drawing/2014/main" id="{61D5AF50-A179-4B64-945F-3427EF5E0E8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6233116" y="1511300"/>
            <a:ext cx="5418000" cy="4698000"/>
          </a:xfrm>
        </p:spPr>
        <p:txBody>
          <a:bodyPr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1124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-spaltig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892DD1DF-1BD4-45AD-8FE6-7EE527498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5EAD28ED-1E62-43EE-A9F5-6A67CC6CCA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Add subtitle by clicking</a:t>
            </a:r>
          </a:p>
        </p:txBody>
      </p:sp>
      <p:sp>
        <p:nvSpPr>
          <p:cNvPr id="11" name="Content 1">
            <a:extLst>
              <a:ext uri="{FF2B5EF4-FFF2-40B4-BE49-F238E27FC236}">
                <a16:creationId xmlns:a16="http://schemas.microsoft.com/office/drawing/2014/main" id="{28D4C0A4-96E7-4D99-BEB2-5A71EE2360A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540071" y="1512000"/>
            <a:ext cx="3520800" cy="4698000"/>
          </a:xfrm>
        </p:spPr>
        <p:txBody>
          <a:bodyPr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Content 2">
            <a:extLst>
              <a:ext uri="{FF2B5EF4-FFF2-40B4-BE49-F238E27FC236}">
                <a16:creationId xmlns:a16="http://schemas.microsoft.com/office/drawing/2014/main" id="{17128EF7-8FE2-4AB0-B8E7-EE9FC91C8BA7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4335359" y="1512000"/>
            <a:ext cx="3520800" cy="4698000"/>
          </a:xfrm>
        </p:spPr>
        <p:txBody>
          <a:bodyPr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3">
            <a:extLst>
              <a:ext uri="{FF2B5EF4-FFF2-40B4-BE49-F238E27FC236}">
                <a16:creationId xmlns:a16="http://schemas.microsoft.com/office/drawing/2014/main" id="{61C2D02B-485F-4E7D-A4E8-A63B9094C20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8129834" y="1512000"/>
            <a:ext cx="3520800" cy="4698000"/>
          </a:xfrm>
        </p:spPr>
        <p:txBody>
          <a:bodyPr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0661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BDD6733E-7C25-46CD-A874-AF8A3C15A2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noProof="0"/>
              <a:t>Add title by clicking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B114C2F7-DB63-42A9-A89E-6DEEDB1C6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Add subtitle by clicking</a:t>
            </a:r>
          </a:p>
        </p:txBody>
      </p:sp>
      <p:sp>
        <p:nvSpPr>
          <p:cNvPr id="18" name="Content 1">
            <a:extLst>
              <a:ext uri="{FF2B5EF4-FFF2-40B4-BE49-F238E27FC236}">
                <a16:creationId xmlns:a16="http://schemas.microsoft.com/office/drawing/2014/main" id="{476A5A13-CD84-4B49-A328-DF96768F499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0" y="3859200"/>
            <a:ext cx="4060800" cy="2350800"/>
          </a:xfrm>
        </p:spPr>
        <p:txBody>
          <a:bodyPr lIns="540000" tIns="360000" rIns="540000"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Content 2">
            <a:extLst>
              <a:ext uri="{FF2B5EF4-FFF2-40B4-BE49-F238E27FC236}">
                <a16:creationId xmlns:a16="http://schemas.microsoft.com/office/drawing/2014/main" id="{C807E1E4-6D3B-416A-B6C7-AAD1CD50FEF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4065324" y="3859200"/>
            <a:ext cx="4060800" cy="2350800"/>
          </a:xfrm>
        </p:spPr>
        <p:txBody>
          <a:bodyPr lIns="540000" tIns="360000" rIns="540000"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Content 3">
            <a:extLst>
              <a:ext uri="{FF2B5EF4-FFF2-40B4-BE49-F238E27FC236}">
                <a16:creationId xmlns:a16="http://schemas.microsoft.com/office/drawing/2014/main" id="{6473D1BE-911F-487B-840C-C6126A1D9650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8119507" y="3861001"/>
            <a:ext cx="4060800" cy="2350800"/>
          </a:xfrm>
        </p:spPr>
        <p:txBody>
          <a:bodyPr lIns="540000" tIns="360000" rIns="540000"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" name="Image 1">
            <a:extLst>
              <a:ext uri="{FF2B5EF4-FFF2-40B4-BE49-F238E27FC236}">
                <a16:creationId xmlns:a16="http://schemas.microsoft.com/office/drawing/2014/main" id="{D71F76E3-EF4C-4493-8CCE-BE7482714E08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-1" y="1512000"/>
            <a:ext cx="4064400" cy="2349001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/>
              <a:t>Add image by clicking on icon</a:t>
            </a:r>
          </a:p>
        </p:txBody>
      </p:sp>
      <p:sp>
        <p:nvSpPr>
          <p:cNvPr id="34" name="Image 2">
            <a:extLst>
              <a:ext uri="{FF2B5EF4-FFF2-40B4-BE49-F238E27FC236}">
                <a16:creationId xmlns:a16="http://schemas.microsoft.com/office/drawing/2014/main" id="{21D8FBC5-7AE5-4ADA-9237-C831A0790B8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4063799" y="1512000"/>
            <a:ext cx="4064400" cy="2349001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/>
              <a:t>Add image by clicking on icon</a:t>
            </a:r>
          </a:p>
        </p:txBody>
      </p:sp>
      <p:sp>
        <p:nvSpPr>
          <p:cNvPr id="35" name="Image 3">
            <a:extLst>
              <a:ext uri="{FF2B5EF4-FFF2-40B4-BE49-F238E27FC236}">
                <a16:creationId xmlns:a16="http://schemas.microsoft.com/office/drawing/2014/main" id="{F8990CC2-72B4-4905-9EF8-31233BDBC575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 bwMode="gray">
          <a:xfrm>
            <a:off x="8127600" y="1512000"/>
            <a:ext cx="4064400" cy="2349001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 dirty="0"/>
            </a:lvl1pPr>
          </a:lstStyle>
          <a:p>
            <a:pPr marL="270027" lvl="0" indent="-270027" algn="ctr"/>
            <a:r>
              <a:rPr lang="en-US" noProof="0"/>
              <a:t>Add image by clicking on icon</a:t>
            </a:r>
          </a:p>
        </p:txBody>
      </p:sp>
      <p:sp>
        <p:nvSpPr>
          <p:cNvPr id="24" name="Layer 3">
            <a:extLst>
              <a:ext uri="{FF2B5EF4-FFF2-40B4-BE49-F238E27FC236}">
                <a16:creationId xmlns:a16="http://schemas.microsoft.com/office/drawing/2014/main" id="{D344CFB3-1BF1-49A1-97AB-562636BC243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-1" y="1512000"/>
            <a:ext cx="4065324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5" name="Layer 2">
            <a:extLst>
              <a:ext uri="{FF2B5EF4-FFF2-40B4-BE49-F238E27FC236}">
                <a16:creationId xmlns:a16="http://schemas.microsoft.com/office/drawing/2014/main" id="{7E3B39D2-C3FB-4F18-83AE-9083B0DFA6B8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 bwMode="gray">
          <a:xfrm>
            <a:off x="4063799" y="1512000"/>
            <a:ext cx="4065324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6" name="Layer 1">
            <a:extLst>
              <a:ext uri="{FF2B5EF4-FFF2-40B4-BE49-F238E27FC236}">
                <a16:creationId xmlns:a16="http://schemas.microsoft.com/office/drawing/2014/main" id="{C0A10930-F243-44E5-B660-944A02FA6DBC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 bwMode="gray">
          <a:xfrm>
            <a:off x="8127600" y="1512000"/>
            <a:ext cx="4065324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 typeface="Arial" panose="020B0604020202020204" pitchFamily="34" charset="0"/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5CD8BD8D-986E-44DF-955D-A5318E232DC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1FC85A6-FDEF-4706-AE02-53625DE1D1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0006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4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>
            <a:extLst>
              <a:ext uri="{FF2B5EF4-FFF2-40B4-BE49-F238E27FC236}">
                <a16:creationId xmlns:a16="http://schemas.microsoft.com/office/drawing/2014/main" id="{6EBD2C20-D084-48E4-9971-A65EE8306419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noProof="0" dirty="0"/>
              <a:t>Add title by clicking</a:t>
            </a:r>
          </a:p>
        </p:txBody>
      </p:sp>
      <p:sp>
        <p:nvSpPr>
          <p:cNvPr id="33" name="Subtitle">
            <a:extLst>
              <a:ext uri="{FF2B5EF4-FFF2-40B4-BE49-F238E27FC236}">
                <a16:creationId xmlns:a16="http://schemas.microsoft.com/office/drawing/2014/main" id="{AE8F69A6-ABF8-4FCB-8173-F56E847BCF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11111046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Add subtitle by clicking</a:t>
            </a:r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215CF883-C29E-400B-95F5-26E180D96210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0" y="1512000"/>
            <a:ext cx="3049200" cy="2350799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8" name="Image 2">
            <a:extLst>
              <a:ext uri="{FF2B5EF4-FFF2-40B4-BE49-F238E27FC236}">
                <a16:creationId xmlns:a16="http://schemas.microsoft.com/office/drawing/2014/main" id="{EA190A46-EC7C-4916-8E42-86C4DA8C7EEE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6094800" y="1512000"/>
            <a:ext cx="3049200" cy="2350799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9" name="Image 3">
            <a:extLst>
              <a:ext uri="{FF2B5EF4-FFF2-40B4-BE49-F238E27FC236}">
                <a16:creationId xmlns:a16="http://schemas.microsoft.com/office/drawing/2014/main" id="{35C0C349-FD37-43F3-8051-D3E33745125E}"/>
              </a:ext>
            </a:extLst>
          </p:cNvPr>
          <p:cNvSpPr>
            <a:spLocks noGrp="1" noChangeAspect="1"/>
          </p:cNvSpPr>
          <p:nvPr>
            <p:ph type="pic" sz="quarter" idx="44" hasCustomPrompt="1"/>
          </p:nvPr>
        </p:nvSpPr>
        <p:spPr bwMode="gray">
          <a:xfrm>
            <a:off x="3048000" y="3861000"/>
            <a:ext cx="3049200" cy="2350799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40" name="Image 4">
            <a:extLst>
              <a:ext uri="{FF2B5EF4-FFF2-40B4-BE49-F238E27FC236}">
                <a16:creationId xmlns:a16="http://schemas.microsoft.com/office/drawing/2014/main" id="{9EC71CBF-2D03-4EE9-B7ED-725825329C16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 bwMode="gray">
          <a:xfrm>
            <a:off x="9143999" y="3861000"/>
            <a:ext cx="3049200" cy="2350799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5" name="Layer 1">
            <a:extLst>
              <a:ext uri="{FF2B5EF4-FFF2-40B4-BE49-F238E27FC236}">
                <a16:creationId xmlns:a16="http://schemas.microsoft.com/office/drawing/2014/main" id="{AFB2FAEB-9A9D-45DB-948B-DA47EDE1983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 bwMode="gray">
          <a:xfrm>
            <a:off x="-1" y="1511999"/>
            <a:ext cx="3048002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6" name="Layer 2">
            <a:extLst>
              <a:ext uri="{FF2B5EF4-FFF2-40B4-BE49-F238E27FC236}">
                <a16:creationId xmlns:a16="http://schemas.microsoft.com/office/drawing/2014/main" id="{43202B17-FFD7-4690-94ED-8A123DF14CB6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 bwMode="gray">
          <a:xfrm>
            <a:off x="3048001" y="3861000"/>
            <a:ext cx="3048002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7" name="Layer 3">
            <a:extLst>
              <a:ext uri="{FF2B5EF4-FFF2-40B4-BE49-F238E27FC236}">
                <a16:creationId xmlns:a16="http://schemas.microsoft.com/office/drawing/2014/main" id="{6B456084-5BD3-4200-B0BC-C3F2BABEFF4F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 bwMode="gray">
          <a:xfrm>
            <a:off x="6096001" y="1511999"/>
            <a:ext cx="3048000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8" name="Layer 4">
            <a:extLst>
              <a:ext uri="{FF2B5EF4-FFF2-40B4-BE49-F238E27FC236}">
                <a16:creationId xmlns:a16="http://schemas.microsoft.com/office/drawing/2014/main" id="{639AD511-12C4-4AE0-809E-1E9F4A6947A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 bwMode="gray">
          <a:xfrm>
            <a:off x="9144003" y="3861000"/>
            <a:ext cx="3048000" cy="2349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9" name="Content 1">
            <a:extLst>
              <a:ext uri="{FF2B5EF4-FFF2-40B4-BE49-F238E27FC236}">
                <a16:creationId xmlns:a16="http://schemas.microsoft.com/office/drawing/2014/main" id="{E26C5950-7015-41C2-97A1-A505EF63E5D2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 bwMode="gray">
          <a:xfrm>
            <a:off x="3046800" y="1512000"/>
            <a:ext cx="3049200" cy="2350800"/>
          </a:xfrm>
        </p:spPr>
        <p:txBody>
          <a:bodyPr lIns="360000" tIns="360000" rIns="360000" bIns="360000"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30" name="Content 2">
            <a:extLst>
              <a:ext uri="{FF2B5EF4-FFF2-40B4-BE49-F238E27FC236}">
                <a16:creationId xmlns:a16="http://schemas.microsoft.com/office/drawing/2014/main" id="{81ECA7FB-504D-4804-ADBD-F0BC25CE4D3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 bwMode="gray">
          <a:xfrm>
            <a:off x="9142801" y="1512000"/>
            <a:ext cx="3049200" cy="2350800"/>
          </a:xfrm>
        </p:spPr>
        <p:txBody>
          <a:bodyPr lIns="360000" tIns="360000" rIns="360000" bIns="360000"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31" name="Content 3">
            <a:extLst>
              <a:ext uri="{FF2B5EF4-FFF2-40B4-BE49-F238E27FC236}">
                <a16:creationId xmlns:a16="http://schemas.microsoft.com/office/drawing/2014/main" id="{BFD5DAD4-4F4A-4E1C-A941-32EF9D623FDE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 bwMode="gray">
          <a:xfrm>
            <a:off x="0" y="3859200"/>
            <a:ext cx="3049200" cy="2350800"/>
          </a:xfrm>
        </p:spPr>
        <p:txBody>
          <a:bodyPr lIns="360000" tIns="360000" rIns="360000" bIns="360000"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32" name="Content 4">
            <a:extLst>
              <a:ext uri="{FF2B5EF4-FFF2-40B4-BE49-F238E27FC236}">
                <a16:creationId xmlns:a16="http://schemas.microsoft.com/office/drawing/2014/main" id="{DEF3F8BF-AA89-4B4C-A48C-285A85624DC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 bwMode="gray">
          <a:xfrm>
            <a:off x="6094800" y="3859200"/>
            <a:ext cx="3049200" cy="2350800"/>
          </a:xfrm>
        </p:spPr>
        <p:txBody>
          <a:bodyPr lIns="360000" tIns="360000" rIns="360000" bIns="360000"/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82098DB-9EEC-4945-86C2-A3AA498B7B9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2FB82A5D-FBDA-4F37-8A03-9F2D3A0FD960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885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">
            <a:extLst>
              <a:ext uri="{FF2B5EF4-FFF2-40B4-BE49-F238E27FC236}">
                <a16:creationId xmlns:a16="http://schemas.microsoft.com/office/drawing/2014/main" id="{D3C64368-2429-4695-AA5A-3FBE246AF9F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gray">
          <a:xfrm>
            <a:off x="0" y="0"/>
            <a:ext cx="4063535" cy="685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/>
              <a:t>Add image by clicking on icon</a:t>
            </a:r>
          </a:p>
        </p:txBody>
      </p:sp>
      <p:sp>
        <p:nvSpPr>
          <p:cNvPr id="25" name="Layer">
            <a:extLst>
              <a:ext uri="{FF2B5EF4-FFF2-40B4-BE49-F238E27FC236}">
                <a16:creationId xmlns:a16="http://schemas.microsoft.com/office/drawing/2014/main" id="{F76612BA-ADDA-4DE3-A21D-167BE5B0A0F1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0" y="0"/>
            <a:ext cx="4064929" cy="6858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FABDBA34-E562-4DF9-B4EC-498D6A476A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2722" y="432000"/>
            <a:ext cx="7048800" cy="3960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noProof="0"/>
              <a:t>Add title by clicking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68B7413F-D5E9-4389-8C4C-50761BE1F7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602722" y="828000"/>
            <a:ext cx="7048800" cy="3960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de-DE" sz="2000" b="1" baseline="0" noProof="0" dirty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Add subtitle by clicking</a:t>
            </a:r>
          </a:p>
        </p:txBody>
      </p:sp>
      <p:sp>
        <p:nvSpPr>
          <p:cNvPr id="31" name="Content">
            <a:extLst>
              <a:ext uri="{FF2B5EF4-FFF2-40B4-BE49-F238E27FC236}">
                <a16:creationId xmlns:a16="http://schemas.microsoft.com/office/drawing/2014/main" id="{657B1B3D-8C3E-49CD-8F6A-BDBE146DA8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gray">
          <a:xfrm>
            <a:off x="4601173" y="1512000"/>
            <a:ext cx="7050349" cy="4698000"/>
          </a:xfrm>
        </p:spPr>
        <p:txBody>
          <a:bodyPr/>
          <a:lstStyle>
            <a:lvl1pPr marL="324032" indent="-324032">
              <a:buFont typeface="+mj-lt"/>
              <a:buAutoNum type="arabicPeriod"/>
              <a:defRPr/>
            </a:lvl1pPr>
            <a:lvl2pPr marL="648065" indent="-324032">
              <a:buSzPct val="100000"/>
              <a:buFont typeface="+mj-lt"/>
              <a:buAutoNum type="arabicPeriod"/>
              <a:defRPr/>
            </a:lvl2pPr>
            <a:lvl3pPr marL="972097" indent="-324032">
              <a:buSzPct val="100000"/>
              <a:buFont typeface="+mj-lt"/>
              <a:buAutoNum type="arabicPeriod"/>
              <a:defRPr/>
            </a:lvl3pPr>
          </a:lstStyle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Add text by clicking</a:t>
            </a:r>
          </a:p>
          <a:p>
            <a:pPr lvl="2"/>
            <a:r>
              <a:rPr lang="en-US" noProof="0"/>
              <a:t>Add text by clicking</a:t>
            </a:r>
          </a:p>
          <a:p>
            <a:pPr lvl="2"/>
            <a:endParaRPr lang="en-US" noProof="0"/>
          </a:p>
        </p:txBody>
      </p:sp>
      <p:sp>
        <p:nvSpPr>
          <p:cNvPr id="26" name="Footer">
            <a:extLst>
              <a:ext uri="{FF2B5EF4-FFF2-40B4-BE49-F238E27FC236}">
                <a16:creationId xmlns:a16="http://schemas.microsoft.com/office/drawing/2014/main" id="{06941BDF-75AD-4DB1-9193-186737C2D7C2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706F7F53-5AC1-4951-8D42-8BDF3E45962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28" name="Slide number">
            <a:extLst>
              <a:ext uri="{FF2B5EF4-FFF2-40B4-BE49-F238E27FC236}">
                <a16:creationId xmlns:a16="http://schemas.microsoft.com/office/drawing/2014/main" id="{17B43D93-D64D-4255-A3C5-9A7194AEF1EC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932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>
            <a:extLst>
              <a:ext uri="{FF2B5EF4-FFF2-40B4-BE49-F238E27FC236}">
                <a16:creationId xmlns:a16="http://schemas.microsoft.com/office/drawing/2014/main" id="{C7713EAA-BA41-490B-8CE1-038D6730C31D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8127600" y="0"/>
            <a:ext cx="40644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13" name="Layer">
            <a:extLst>
              <a:ext uri="{FF2B5EF4-FFF2-40B4-BE49-F238E27FC236}">
                <a16:creationId xmlns:a16="http://schemas.microsoft.com/office/drawing/2014/main" id="{69A49421-6408-416A-B747-27993D93BA7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8127600" y="0"/>
            <a:ext cx="40644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3" name="Logo 1">
            <a:extLst>
              <a:ext uri="{FF2B5EF4-FFF2-40B4-BE49-F238E27FC236}">
                <a16:creationId xmlns:a16="http://schemas.microsoft.com/office/drawing/2014/main" id="{0FF1132E-2C16-4861-A4BA-0B502A04A2FF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6" name="Logo 2">
            <a:extLst>
              <a:ext uri="{FF2B5EF4-FFF2-40B4-BE49-F238E27FC236}">
                <a16:creationId xmlns:a16="http://schemas.microsoft.com/office/drawing/2014/main" id="{23983033-33B4-4D71-8D84-CDF0D40300A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F49569DE-E7D3-4AEB-8AA9-431805FCC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476" y="432000"/>
            <a:ext cx="7048800" cy="396000"/>
          </a:xfrm>
        </p:spPr>
        <p:txBody>
          <a:bodyPr/>
          <a:lstStyle/>
          <a:p>
            <a:r>
              <a:rPr lang="en-US" noProof="0"/>
              <a:t>Add title by clicking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5337AC17-F0DC-4E08-8CA3-27C35E45E6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7048800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Add subtitle by clicking</a:t>
            </a:r>
          </a:p>
        </p:txBody>
      </p:sp>
      <p:sp>
        <p:nvSpPr>
          <p:cNvPr id="18" name="Content">
            <a:extLst>
              <a:ext uri="{FF2B5EF4-FFF2-40B4-BE49-F238E27FC236}">
                <a16:creationId xmlns:a16="http://schemas.microsoft.com/office/drawing/2014/main" id="{E3596B7D-2A91-4EF1-878F-F1B95285810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540071" y="1511300"/>
            <a:ext cx="7048800" cy="4698000"/>
          </a:xfrm>
        </p:spPr>
        <p:txBody>
          <a:bodyPr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9995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-spaltig + Bild rech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>
            <a:extLst>
              <a:ext uri="{FF2B5EF4-FFF2-40B4-BE49-F238E27FC236}">
                <a16:creationId xmlns:a16="http://schemas.microsoft.com/office/drawing/2014/main" id="{C7713EAA-BA41-490B-8CE1-038D6730C31D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8127600" y="0"/>
            <a:ext cx="4064400" cy="6210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13" name="Layer">
            <a:extLst>
              <a:ext uri="{FF2B5EF4-FFF2-40B4-BE49-F238E27FC236}">
                <a16:creationId xmlns:a16="http://schemas.microsoft.com/office/drawing/2014/main" id="{69A49421-6408-416A-B747-27993D93BA7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8127600" y="0"/>
            <a:ext cx="4064400" cy="6210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1" name="Titel">
            <a:extLst>
              <a:ext uri="{FF2B5EF4-FFF2-40B4-BE49-F238E27FC236}">
                <a16:creationId xmlns:a16="http://schemas.microsoft.com/office/drawing/2014/main" id="{F49569DE-E7D3-4AEB-8AA9-431805FCC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476" y="432000"/>
            <a:ext cx="7315200" cy="396000"/>
          </a:xfrm>
        </p:spPr>
        <p:txBody>
          <a:bodyPr/>
          <a:lstStyle/>
          <a:p>
            <a:r>
              <a:rPr lang="en-US" noProof="0"/>
              <a:t>Add title by clicking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5337AC17-F0DC-4E08-8CA3-27C35E45E6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828000"/>
            <a:ext cx="7315200" cy="396000"/>
          </a:xfrm>
        </p:spPr>
        <p:txBody>
          <a:bodyPr/>
          <a:lstStyle>
            <a:lvl1pPr marL="0" indent="0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Add subtitle by clicking</a:t>
            </a:r>
          </a:p>
        </p:txBody>
      </p:sp>
      <p:sp>
        <p:nvSpPr>
          <p:cNvPr id="14" name="Content 1">
            <a:extLst>
              <a:ext uri="{FF2B5EF4-FFF2-40B4-BE49-F238E27FC236}">
                <a16:creationId xmlns:a16="http://schemas.microsoft.com/office/drawing/2014/main" id="{7D10A284-30F2-4E62-B1EB-09633961008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540071" y="1512000"/>
            <a:ext cx="3520800" cy="4698000"/>
          </a:xfrm>
        </p:spPr>
        <p:txBody>
          <a:bodyPr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2">
            <a:extLst>
              <a:ext uri="{FF2B5EF4-FFF2-40B4-BE49-F238E27FC236}">
                <a16:creationId xmlns:a16="http://schemas.microsoft.com/office/drawing/2014/main" id="{B6EB0495-94D3-44C4-B365-740C920B08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4335359" y="1512000"/>
            <a:ext cx="3520800" cy="4698000"/>
          </a:xfrm>
        </p:spPr>
        <p:txBody>
          <a:bodyPr/>
          <a:lstStyle/>
          <a:p>
            <a:pPr lvl="0"/>
            <a:r>
              <a:rPr lang="en-US" noProof="0"/>
              <a:t>Add text by clicking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9E90C7A-15B4-47CA-AAB1-DCC152287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25F3A366-59F9-4608-B2D5-8AE3A343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997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mage">
            <a:extLst>
              <a:ext uri="{FF2B5EF4-FFF2-40B4-BE49-F238E27FC236}">
                <a16:creationId xmlns:a16="http://schemas.microsoft.com/office/drawing/2014/main" id="{EF6AEE05-4A0C-4907-A69A-DC83F233CF90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4063200" y="0"/>
            <a:ext cx="81288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26" name="Layer">
            <a:extLst>
              <a:ext uri="{FF2B5EF4-FFF2-40B4-BE49-F238E27FC236}">
                <a16:creationId xmlns:a16="http://schemas.microsoft.com/office/drawing/2014/main" id="{EA0F19EC-493B-494D-844E-DB1C323A3010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4063200" y="0"/>
            <a:ext cx="81288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1" name="Logo 1">
            <a:extLst>
              <a:ext uri="{FF2B5EF4-FFF2-40B4-BE49-F238E27FC236}">
                <a16:creationId xmlns:a16="http://schemas.microsoft.com/office/drawing/2014/main" id="{9D5E01A3-2B0F-4395-9091-7237DFD2C318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2" name="Logo 2">
            <a:extLst>
              <a:ext uri="{FF2B5EF4-FFF2-40B4-BE49-F238E27FC236}">
                <a16:creationId xmlns:a16="http://schemas.microsoft.com/office/drawing/2014/main" id="{D7E21D6F-A9FB-41C1-910B-C7BA3D0015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039E4070-6C7E-4798-B7AB-60595C9FE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2856018"/>
            <a:ext cx="2984400" cy="540000"/>
          </a:xfrm>
        </p:spPr>
        <p:txBody>
          <a:bodyPr anchor="b" anchorCtr="0"/>
          <a:lstStyle>
            <a:lvl1pPr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text by clicking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9F95FC-FF26-4767-87DB-343013843E1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476" y="3513901"/>
            <a:ext cx="2984400" cy="269640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Add text by clicking</a:t>
            </a:r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BEFEDFCA-BDD5-4AE3-BBFF-78BBCD6B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126821" y="6390000"/>
            <a:ext cx="4969177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5E673ACF-9678-4313-A91D-BF7B892EB5E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41460" y="6426000"/>
            <a:ext cx="72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4B6A53B-C84F-4C76-842B-D54B5600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40070" y="6390000"/>
            <a:ext cx="22683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5878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mage">
            <a:extLst>
              <a:ext uri="{FF2B5EF4-FFF2-40B4-BE49-F238E27FC236}">
                <a16:creationId xmlns:a16="http://schemas.microsoft.com/office/drawing/2014/main" id="{EF6AEE05-4A0C-4907-A69A-DC83F233CF90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4063200" y="0"/>
            <a:ext cx="81288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26" name="Layer">
            <a:extLst>
              <a:ext uri="{FF2B5EF4-FFF2-40B4-BE49-F238E27FC236}">
                <a16:creationId xmlns:a16="http://schemas.microsoft.com/office/drawing/2014/main" id="{EA0F19EC-493B-494D-844E-DB1C323A3010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4063200" y="0"/>
            <a:ext cx="8128800" cy="6858000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1" name="Logo 1">
            <a:extLst>
              <a:ext uri="{FF2B5EF4-FFF2-40B4-BE49-F238E27FC236}">
                <a16:creationId xmlns:a16="http://schemas.microsoft.com/office/drawing/2014/main" id="{1E16052D-BDA4-4891-B706-BD6C02D107C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2" name="Logo 2">
            <a:extLst>
              <a:ext uri="{FF2B5EF4-FFF2-40B4-BE49-F238E27FC236}">
                <a16:creationId xmlns:a16="http://schemas.microsoft.com/office/drawing/2014/main" id="{4ADA37D0-AD92-4297-92BD-F2AC7AB170F1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039E4070-6C7E-4798-B7AB-60595C9FE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2856018"/>
            <a:ext cx="2984400" cy="540000"/>
          </a:xfrm>
        </p:spPr>
        <p:txBody>
          <a:bodyPr anchor="b" anchorCtr="0"/>
          <a:lstStyle>
            <a:lvl1pPr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9F95FC-FF26-4767-87DB-343013843E1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476" y="3513901"/>
            <a:ext cx="2984400" cy="269640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3A0A90D4-377A-422A-9F2F-FD697FF1F242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B16B9F8C-064C-456E-9D2A-192FB6FE811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41460" y="6426000"/>
            <a:ext cx="72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07B7B5C-6350-42CB-92D2-4D663C0095F7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0638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farbig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mage">
            <a:extLst>
              <a:ext uri="{FF2B5EF4-FFF2-40B4-BE49-F238E27FC236}">
                <a16:creationId xmlns:a16="http://schemas.microsoft.com/office/drawing/2014/main" id="{EF6AEE05-4A0C-4907-A69A-DC83F233CF90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26" name="Layer">
            <a:extLst>
              <a:ext uri="{FF2B5EF4-FFF2-40B4-BE49-F238E27FC236}">
                <a16:creationId xmlns:a16="http://schemas.microsoft.com/office/drawing/2014/main" id="{EA0F19EC-493B-494D-844E-DB1C323A3010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0" y="1"/>
            <a:ext cx="6094800" cy="6857999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9F95FC-FF26-4767-87DB-343013843E1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1427410" y="1428404"/>
            <a:ext cx="3240000" cy="3999600"/>
          </a:xfrm>
          <a:solidFill>
            <a:schemeClr val="bg1"/>
          </a:solidFill>
          <a:ln w="38100">
            <a:solidFill>
              <a:schemeClr val="accent6"/>
            </a:solidFill>
            <a:miter lim="800000"/>
          </a:ln>
        </p:spPr>
        <p:txBody>
          <a:bodyPr lIns="360000" tIns="360000" rIns="360000" bIns="360000" anchor="ctr" anchorCtr="0"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Add text by clicking</a:t>
            </a:r>
          </a:p>
        </p:txBody>
      </p:sp>
      <p:sp>
        <p:nvSpPr>
          <p:cNvPr id="11" name="Logo 1">
            <a:extLst>
              <a:ext uri="{FF2B5EF4-FFF2-40B4-BE49-F238E27FC236}">
                <a16:creationId xmlns:a16="http://schemas.microsoft.com/office/drawing/2014/main" id="{1E16052D-BDA4-4891-B706-BD6C02D107C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2" name="Logo 2">
            <a:extLst>
              <a:ext uri="{FF2B5EF4-FFF2-40B4-BE49-F238E27FC236}">
                <a16:creationId xmlns:a16="http://schemas.microsoft.com/office/drawing/2014/main" id="{4ADA37D0-AD92-4297-92BD-F2AC7AB170F1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BEFEDFCA-BDD5-4AE3-BBFF-78BBCD6B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126821" y="6390000"/>
            <a:ext cx="4969177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1C3D654-999A-48CF-BFD9-2AED5F01120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4B6A53B-C84F-4C76-842B-D54B5600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40070" y="6390000"/>
            <a:ext cx="22683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145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mage">
            <a:extLst>
              <a:ext uri="{FF2B5EF4-FFF2-40B4-BE49-F238E27FC236}">
                <a16:creationId xmlns:a16="http://schemas.microsoft.com/office/drawing/2014/main" id="{EF6AEE05-4A0C-4907-A69A-DC83F233CF90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6097200" y="0"/>
            <a:ext cx="60948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Add image by clicking on icon</a:t>
            </a:r>
          </a:p>
        </p:txBody>
      </p:sp>
      <p:sp>
        <p:nvSpPr>
          <p:cNvPr id="26" name="Layer">
            <a:extLst>
              <a:ext uri="{FF2B5EF4-FFF2-40B4-BE49-F238E27FC236}">
                <a16:creationId xmlns:a16="http://schemas.microsoft.com/office/drawing/2014/main" id="{EA0F19EC-493B-494D-844E-DB1C323A3010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6097200" y="1"/>
            <a:ext cx="6094800" cy="6857999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9F95FC-FF26-4767-87DB-343013843E1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1427410" y="1428404"/>
            <a:ext cx="3240000" cy="3999600"/>
          </a:xfrm>
          <a:solidFill>
            <a:schemeClr val="bg1"/>
          </a:solidFill>
          <a:ln w="38100">
            <a:gradFill>
              <a:gsLst>
                <a:gs pos="5000">
                  <a:schemeClr val="tx2"/>
                </a:gs>
                <a:gs pos="90000">
                  <a:schemeClr val="accent1"/>
                </a:gs>
              </a:gsLst>
              <a:lin ang="2400000" scaled="0"/>
            </a:gradFill>
            <a:miter lim="800000"/>
          </a:ln>
        </p:spPr>
        <p:txBody>
          <a:bodyPr lIns="360000" tIns="360000" rIns="360000" bIns="360000" anchor="ctr" anchorCtr="0"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/>
              <a:t>Add text by clicking</a:t>
            </a:r>
          </a:p>
        </p:txBody>
      </p:sp>
      <p:sp>
        <p:nvSpPr>
          <p:cNvPr id="11" name="Logo 1">
            <a:extLst>
              <a:ext uri="{FF2B5EF4-FFF2-40B4-BE49-F238E27FC236}">
                <a16:creationId xmlns:a16="http://schemas.microsoft.com/office/drawing/2014/main" id="{1E16052D-BDA4-4891-B706-BD6C02D107C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2" name="Logo 2">
            <a:extLst>
              <a:ext uri="{FF2B5EF4-FFF2-40B4-BE49-F238E27FC236}">
                <a16:creationId xmlns:a16="http://schemas.microsoft.com/office/drawing/2014/main" id="{4ADA37D0-AD92-4297-92BD-F2AC7AB170F1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13D68F7B-FEE0-4152-9FCF-E3840DC885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850B41D-67B1-4F92-817D-9E3B494ABC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5758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mage">
            <a:extLst>
              <a:ext uri="{FF2B5EF4-FFF2-40B4-BE49-F238E27FC236}">
                <a16:creationId xmlns:a16="http://schemas.microsoft.com/office/drawing/2014/main" id="{EF6AEE05-4A0C-4907-A69A-DC83F233CF90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gray"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Add image by clicking on icon</a:t>
            </a:r>
          </a:p>
        </p:txBody>
      </p:sp>
      <p:sp>
        <p:nvSpPr>
          <p:cNvPr id="26" name="Layer">
            <a:extLst>
              <a:ext uri="{FF2B5EF4-FFF2-40B4-BE49-F238E27FC236}">
                <a16:creationId xmlns:a16="http://schemas.microsoft.com/office/drawing/2014/main" id="{EA0F19EC-493B-494D-844E-DB1C323A3010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 bwMode="gray">
          <a:xfrm>
            <a:off x="0" y="1"/>
            <a:ext cx="12192000" cy="6857999"/>
          </a:xfrm>
          <a:gradFill>
            <a:gsLst>
              <a:gs pos="5000">
                <a:schemeClr val="tx2">
                  <a:alpha val="80000"/>
                </a:schemeClr>
              </a:gs>
              <a:gs pos="90000">
                <a:schemeClr val="accent1">
                  <a:alpha val="80000"/>
                  <a:lumMod val="10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1" name="Logo 1">
            <a:extLst>
              <a:ext uri="{FF2B5EF4-FFF2-40B4-BE49-F238E27FC236}">
                <a16:creationId xmlns:a16="http://schemas.microsoft.com/office/drawing/2014/main" id="{1E16052D-BDA4-4891-B706-BD6C02D107C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8371150" y="6416434"/>
            <a:ext cx="1490400" cy="234000"/>
          </a:xfrm>
          <a:blipFill>
            <a:blip r:embed="rId2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2" name="Logo 2">
            <a:extLst>
              <a:ext uri="{FF2B5EF4-FFF2-40B4-BE49-F238E27FC236}">
                <a16:creationId xmlns:a16="http://schemas.microsoft.com/office/drawing/2014/main" id="{4ADA37D0-AD92-4297-92BD-F2AC7AB170F1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 bwMode="gray">
          <a:xfrm>
            <a:off x="10221731" y="6339600"/>
            <a:ext cx="1429200" cy="388800"/>
          </a:xfrm>
          <a:blipFill>
            <a:blip r:embed="rId3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CF37D5CE-7C76-49CE-AE76-58A83C077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75658" y="2619000"/>
            <a:ext cx="10440000" cy="1620000"/>
          </a:xfrm>
        </p:spPr>
        <p:txBody>
          <a:bodyPr anchor="ctr" anchorCtr="0"/>
          <a:lstStyle>
            <a:lvl1pPr algn="ctr">
              <a:defRPr sz="44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Add title by clicking</a:t>
            </a:r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BEFEDFCA-BDD5-4AE3-BBFF-78BBCD6B4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126821" y="6390000"/>
            <a:ext cx="4969177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1C3D654-999A-48CF-BFD9-2AED5F01120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4B6A53B-C84F-4C76-842B-D54B5600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40070" y="6390000"/>
            <a:ext cx="22683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798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>
            <a:extLst>
              <a:ext uri="{FF2B5EF4-FFF2-40B4-BE49-F238E27FC236}">
                <a16:creationId xmlns:a16="http://schemas.microsoft.com/office/drawing/2014/main" id="{18D23589-DA7D-4BC1-887B-A1EE9177314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gray">
          <a:xfrm>
            <a:off x="0" y="0"/>
            <a:ext cx="4063535" cy="685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2" name="Layer">
            <a:extLst>
              <a:ext uri="{FF2B5EF4-FFF2-40B4-BE49-F238E27FC236}">
                <a16:creationId xmlns:a16="http://schemas.microsoft.com/office/drawing/2014/main" id="{D07BA280-94CF-4793-B5A8-87858C2588EB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-5385" y="0"/>
            <a:ext cx="4064929" cy="6858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1" cap="none" baseline="0" noProof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A7BFBBCD-990F-44CC-8DAB-8604053142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0003" y="432000"/>
            <a:ext cx="7051113" cy="396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Add title by clicking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8D2D659-744F-4856-A857-F27AAFFDD5F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601398" y="1511999"/>
            <a:ext cx="2984400" cy="1908000"/>
          </a:xfrm>
        </p:spPr>
        <p:txBody>
          <a:bodyPr bIns="216000" anchor="b" anchorCtr="0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27A301C-A35E-4BDE-9FB6-EF9E933C8E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601399" y="3420000"/>
            <a:ext cx="2984789" cy="18828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0F33B7AC-2894-48A9-B010-04E8D0ED5A8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8666716" y="1511999"/>
            <a:ext cx="2984400" cy="1908000"/>
          </a:xfrm>
        </p:spPr>
        <p:txBody>
          <a:bodyPr bIns="216000" anchor="b" anchorCtr="0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1E4D3AA5-A0D8-4FF3-A537-274AF3F96D6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666327" y="3420000"/>
            <a:ext cx="2984789" cy="18828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cxnSp>
        <p:nvCxnSpPr>
          <p:cNvPr id="7" name="Straight connector 1">
            <a:extLst>
              <a:ext uri="{FF2B5EF4-FFF2-40B4-BE49-F238E27FC236}">
                <a16:creationId xmlns:a16="http://schemas.microsoft.com/office/drawing/2014/main" id="{2563D56A-A583-4545-B731-CC8694B01378}"/>
              </a:ext>
            </a:extLst>
          </p:cNvPr>
          <p:cNvCxnSpPr/>
          <p:nvPr userDrawn="1"/>
        </p:nvCxnSpPr>
        <p:spPr bwMode="gray">
          <a:xfrm>
            <a:off x="4604999" y="3428998"/>
            <a:ext cx="720094" cy="0"/>
          </a:xfrm>
          <a:prstGeom prst="line">
            <a:avLst/>
          </a:prstGeom>
          <a:ln w="19050" cap="flat">
            <a:solidFill>
              <a:schemeClr val="accent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DF304444-488E-4CA8-A6A2-A52D45889B85}"/>
              </a:ext>
            </a:extLst>
          </p:cNvPr>
          <p:cNvCxnSpPr/>
          <p:nvPr userDrawn="1"/>
        </p:nvCxnSpPr>
        <p:spPr bwMode="gray">
          <a:xfrm>
            <a:off x="8666327" y="3428998"/>
            <a:ext cx="720094" cy="0"/>
          </a:xfrm>
          <a:prstGeom prst="line">
            <a:avLst/>
          </a:prstGeom>
          <a:ln w="19050" cap="flat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">
            <a:extLst>
              <a:ext uri="{FF2B5EF4-FFF2-40B4-BE49-F238E27FC236}">
                <a16:creationId xmlns:a16="http://schemas.microsoft.com/office/drawing/2014/main" id="{336BE0AE-3698-4567-AE7A-EBFEB85ECF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6EE91ABB-07BF-44D2-892D-D61E828D4E3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84469BF-BFDC-4683-A931-616471B8F2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95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1 Pers. Instit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1">
            <a:extLst>
              <a:ext uri="{FF2B5EF4-FFF2-40B4-BE49-F238E27FC236}">
                <a16:creationId xmlns:a16="http://schemas.microsoft.com/office/drawing/2014/main" id="{F0DA5A5E-923E-4A48-91D7-0C77A2B44DDD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gray">
          <a:xfrm>
            <a:off x="0" y="0"/>
            <a:ext cx="4063535" cy="685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0" name="Image 2">
            <a:extLst>
              <a:ext uri="{FF2B5EF4-FFF2-40B4-BE49-F238E27FC236}">
                <a16:creationId xmlns:a16="http://schemas.microsoft.com/office/drawing/2014/main" id="{DA4B76B5-4E48-45ED-96D5-3AA7F8C5A862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4601400" y="1512001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19" name="Layer">
            <a:extLst>
              <a:ext uri="{FF2B5EF4-FFF2-40B4-BE49-F238E27FC236}">
                <a16:creationId xmlns:a16="http://schemas.microsoft.com/office/drawing/2014/main" id="{4B4B7249-063E-4903-A56B-DE20CA685A71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0" y="0"/>
            <a:ext cx="4064929" cy="6858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FBEB9E38-AAA8-441E-A1B8-B67F7088EC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0003" y="441236"/>
            <a:ext cx="7051113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30CE1E0-425D-4516-9AD5-D2E1E922F5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5330AAF2-D562-4B45-A6A7-082D2591B5F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390F989-FA77-45BF-BA90-061BF54395D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8954715" y="3420000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8728CC6E-2F34-47B7-B149-AFDC448C85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8954715" y="3875074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E1DCA3C-DFED-4031-954D-9D8FC285FC9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8954715" y="4330148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7F4A465A-A1B4-487A-B5A5-98CCA957147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8954715" y="4785222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9D7F412-C776-45BD-8103-0523C443317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954715" y="5201993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3528A4F-C027-4201-9F2E-DE023A3236E7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46211B00-610C-4D12-AC2F-234087159B0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F635652-9666-4ACD-87F5-747E7646870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2703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1 Pers. Instit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Image 1">
            <a:extLst>
              <a:ext uri="{FF2B5EF4-FFF2-40B4-BE49-F238E27FC236}">
                <a16:creationId xmlns:a16="http://schemas.microsoft.com/office/drawing/2014/main" id="{0754E73D-1018-41D2-BBC9-29A81C1435D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 bwMode="gray">
          <a:xfrm>
            <a:off x="0" y="0"/>
            <a:ext cx="4063535" cy="685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1" name="Image 2">
            <a:extLst>
              <a:ext uri="{FF2B5EF4-FFF2-40B4-BE49-F238E27FC236}">
                <a16:creationId xmlns:a16="http://schemas.microsoft.com/office/drawing/2014/main" id="{458CA222-BB83-4D0B-AC97-FF8C10F77DC4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gray">
          <a:xfrm>
            <a:off x="4601400" y="1512001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7" name="Layer">
            <a:extLst>
              <a:ext uri="{FF2B5EF4-FFF2-40B4-BE49-F238E27FC236}">
                <a16:creationId xmlns:a16="http://schemas.microsoft.com/office/drawing/2014/main" id="{B1856786-81CF-4264-A8D9-19A17E2DA817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gray">
          <a:xfrm>
            <a:off x="1" y="0"/>
            <a:ext cx="4064929" cy="6858000"/>
          </a:xfrm>
          <a:gradFill flip="none" rotWithShape="1">
            <a:gsLst>
              <a:gs pos="90000">
                <a:schemeClr val="accent1">
                  <a:alpha val="80000"/>
                </a:schemeClr>
              </a:gs>
              <a:gs pos="5000">
                <a:schemeClr val="tx2">
                  <a:alpha val="8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de-DE" sz="1800" b="1" cap="none" baseline="0" dirty="0"/>
            </a:lvl1pPr>
          </a:lstStyle>
          <a:p>
            <a:pPr marL="270027" lvl="0" indent="-270027" algn="ctr">
              <a:buClr>
                <a:schemeClr val="accent1"/>
              </a:buClr>
            </a:pPr>
            <a:r>
              <a:rPr lang="en-US" noProof="0"/>
              <a:t> </a:t>
            </a:r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B6A2B96A-E9CD-4212-BC4F-4D99ECE3FF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00003" y="432000"/>
            <a:ext cx="7051113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DB2F76D4-57A1-4836-B4D7-13D9E7DD8B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62512C58-B637-40A4-952C-D556EC4E88D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D3BADBF7-D796-463E-BC1B-64BF2795CBC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8954715" y="3420000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D7FE0B74-B36D-41F4-8A44-54BAE534DF0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8954715" y="3875074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DD84E3B0-2790-40B6-8284-7D01DF69147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8954715" y="4330148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08A974D6-53AD-4657-A336-2DC31B1CB2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8954715" y="4785222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1B53A7CD-7736-4D6C-8265-46FB9A1997A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8954715" y="5201993"/>
            <a:ext cx="2696400" cy="288000"/>
          </a:xfrm>
        </p:spPr>
        <p:txBody>
          <a:bodyPr lIns="18000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DCB5D06-609A-4B4F-A076-29743608A1C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15" name="Line">
            <a:extLst>
              <a:ext uri="{FF2B5EF4-FFF2-40B4-BE49-F238E27FC236}">
                <a16:creationId xmlns:a16="http://schemas.microsoft.com/office/drawing/2014/main" id="{C27587A4-E6CA-4A54-B9DE-2DFFD682541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941460" y="6426000"/>
            <a:ext cx="7200" cy="21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67DC2E6-4313-438F-BA2E-24CF7CCC70BF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8926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2 Pers. Instit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C10B8999-BB45-4D98-BB3A-2129BEDE688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71" y="3428998"/>
            <a:ext cx="9149270" cy="0"/>
          </a:xfrm>
          <a:prstGeom prst="line">
            <a:avLst/>
          </a:prstGeom>
          <a:ln w="19050" cap="flat">
            <a:solidFill>
              <a:schemeClr val="bg1">
                <a:lumMod val="75000"/>
              </a:schemeClr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CON">
            <a:extLst>
              <a:ext uri="{FF2B5EF4-FFF2-40B4-BE49-F238E27FC236}">
                <a16:creationId xmlns:a16="http://schemas.microsoft.com/office/drawing/2014/main" id="{002C0DCF-57EF-47D4-AB88-FB79F717C662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689340" y="3068996"/>
            <a:ext cx="941783" cy="720000"/>
          </a:xfrm>
          <a:custGeom>
            <a:avLst/>
            <a:gdLst>
              <a:gd name="connsiteX0" fmla="*/ 204787 w 570548"/>
              <a:gd name="connsiteY0" fmla="*/ 213360 h 436245"/>
              <a:gd name="connsiteX1" fmla="*/ 273367 w 570548"/>
              <a:gd name="connsiteY1" fmla="*/ 248602 h 436245"/>
              <a:gd name="connsiteX2" fmla="*/ 295275 w 570548"/>
              <a:gd name="connsiteY2" fmla="*/ 248602 h 436245"/>
              <a:gd name="connsiteX3" fmla="*/ 363855 w 570548"/>
              <a:gd name="connsiteY3" fmla="*/ 213360 h 436245"/>
              <a:gd name="connsiteX4" fmla="*/ 375285 w 570548"/>
              <a:gd name="connsiteY4" fmla="*/ 217170 h 436245"/>
              <a:gd name="connsiteX5" fmla="*/ 371475 w 570548"/>
              <a:gd name="connsiteY5" fmla="*/ 229552 h 436245"/>
              <a:gd name="connsiteX6" fmla="*/ 302895 w 570548"/>
              <a:gd name="connsiteY6" fmla="*/ 264795 h 436245"/>
              <a:gd name="connsiteX7" fmla="*/ 283845 w 570548"/>
              <a:gd name="connsiteY7" fmla="*/ 269557 h 436245"/>
              <a:gd name="connsiteX8" fmla="*/ 264795 w 570548"/>
              <a:gd name="connsiteY8" fmla="*/ 264795 h 436245"/>
              <a:gd name="connsiteX9" fmla="*/ 196215 w 570548"/>
              <a:gd name="connsiteY9" fmla="*/ 229552 h 436245"/>
              <a:gd name="connsiteX10" fmla="*/ 192405 w 570548"/>
              <a:gd name="connsiteY10" fmla="*/ 217170 h 436245"/>
              <a:gd name="connsiteX11" fmla="*/ 204787 w 570548"/>
              <a:gd name="connsiteY11" fmla="*/ 213360 h 436245"/>
              <a:gd name="connsiteX12" fmla="*/ 19050 w 570548"/>
              <a:gd name="connsiteY12" fmla="*/ 91440 h 436245"/>
              <a:gd name="connsiteX13" fmla="*/ 19050 w 570548"/>
              <a:gd name="connsiteY13" fmla="*/ 413385 h 436245"/>
              <a:gd name="connsiteX14" fmla="*/ 22860 w 570548"/>
              <a:gd name="connsiteY14" fmla="*/ 417195 h 436245"/>
              <a:gd name="connsiteX15" fmla="*/ 547688 w 570548"/>
              <a:gd name="connsiteY15" fmla="*/ 417195 h 436245"/>
              <a:gd name="connsiteX16" fmla="*/ 551498 w 570548"/>
              <a:gd name="connsiteY16" fmla="*/ 413385 h 436245"/>
              <a:gd name="connsiteX17" fmla="*/ 551498 w 570548"/>
              <a:gd name="connsiteY17" fmla="*/ 91440 h 436245"/>
              <a:gd name="connsiteX18" fmla="*/ 290513 w 570548"/>
              <a:gd name="connsiteY18" fmla="*/ 228600 h 436245"/>
              <a:gd name="connsiteX19" fmla="*/ 285750 w 570548"/>
              <a:gd name="connsiteY19" fmla="*/ 229553 h 436245"/>
              <a:gd name="connsiteX20" fmla="*/ 280988 w 570548"/>
              <a:gd name="connsiteY20" fmla="*/ 228600 h 436245"/>
              <a:gd name="connsiteX21" fmla="*/ 22860 w 570548"/>
              <a:gd name="connsiteY21" fmla="*/ 19050 h 436245"/>
              <a:gd name="connsiteX22" fmla="*/ 19050 w 570548"/>
              <a:gd name="connsiteY22" fmla="*/ 22860 h 436245"/>
              <a:gd name="connsiteX23" fmla="*/ 19050 w 570548"/>
              <a:gd name="connsiteY23" fmla="*/ 69533 h 436245"/>
              <a:gd name="connsiteX24" fmla="*/ 284798 w 570548"/>
              <a:gd name="connsiteY24" fmla="*/ 209550 h 436245"/>
              <a:gd name="connsiteX25" fmla="*/ 551498 w 570548"/>
              <a:gd name="connsiteY25" fmla="*/ 69533 h 436245"/>
              <a:gd name="connsiteX26" fmla="*/ 551498 w 570548"/>
              <a:gd name="connsiteY26" fmla="*/ 22860 h 436245"/>
              <a:gd name="connsiteX27" fmla="*/ 547688 w 570548"/>
              <a:gd name="connsiteY27" fmla="*/ 19050 h 436245"/>
              <a:gd name="connsiteX28" fmla="*/ 22860 w 570548"/>
              <a:gd name="connsiteY28" fmla="*/ 0 h 436245"/>
              <a:gd name="connsiteX29" fmla="*/ 547688 w 570548"/>
              <a:gd name="connsiteY29" fmla="*/ 0 h 436245"/>
              <a:gd name="connsiteX30" fmla="*/ 570548 w 570548"/>
              <a:gd name="connsiteY30" fmla="*/ 22860 h 436245"/>
              <a:gd name="connsiteX31" fmla="*/ 570548 w 570548"/>
              <a:gd name="connsiteY31" fmla="*/ 413385 h 436245"/>
              <a:gd name="connsiteX32" fmla="*/ 547688 w 570548"/>
              <a:gd name="connsiteY32" fmla="*/ 436245 h 436245"/>
              <a:gd name="connsiteX33" fmla="*/ 22860 w 570548"/>
              <a:gd name="connsiteY33" fmla="*/ 436245 h 436245"/>
              <a:gd name="connsiteX34" fmla="*/ 0 w 570548"/>
              <a:gd name="connsiteY34" fmla="*/ 413385 h 436245"/>
              <a:gd name="connsiteX35" fmla="*/ 0 w 570548"/>
              <a:gd name="connsiteY35" fmla="*/ 22860 h 436245"/>
              <a:gd name="connsiteX36" fmla="*/ 22860 w 570548"/>
              <a:gd name="connsiteY36" fmla="*/ 0 h 43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70548" h="436245">
                <a:moveTo>
                  <a:pt x="204787" y="213360"/>
                </a:moveTo>
                <a:lnTo>
                  <a:pt x="273367" y="248602"/>
                </a:lnTo>
                <a:cubicBezTo>
                  <a:pt x="279082" y="251460"/>
                  <a:pt x="287655" y="252412"/>
                  <a:pt x="295275" y="248602"/>
                </a:cubicBezTo>
                <a:lnTo>
                  <a:pt x="363855" y="213360"/>
                </a:lnTo>
                <a:cubicBezTo>
                  <a:pt x="368617" y="211455"/>
                  <a:pt x="374332" y="213360"/>
                  <a:pt x="375285" y="217170"/>
                </a:cubicBezTo>
                <a:cubicBezTo>
                  <a:pt x="378142" y="220980"/>
                  <a:pt x="376237" y="226695"/>
                  <a:pt x="371475" y="229552"/>
                </a:cubicBezTo>
                <a:lnTo>
                  <a:pt x="302895" y="264795"/>
                </a:lnTo>
                <a:cubicBezTo>
                  <a:pt x="296227" y="267652"/>
                  <a:pt x="290512" y="269557"/>
                  <a:pt x="283845" y="269557"/>
                </a:cubicBezTo>
                <a:cubicBezTo>
                  <a:pt x="277177" y="269557"/>
                  <a:pt x="270510" y="267652"/>
                  <a:pt x="264795" y="264795"/>
                </a:cubicBezTo>
                <a:lnTo>
                  <a:pt x="196215" y="229552"/>
                </a:lnTo>
                <a:cubicBezTo>
                  <a:pt x="191452" y="227647"/>
                  <a:pt x="189547" y="221932"/>
                  <a:pt x="192405" y="217170"/>
                </a:cubicBezTo>
                <a:cubicBezTo>
                  <a:pt x="194310" y="212407"/>
                  <a:pt x="200025" y="210502"/>
                  <a:pt x="204787" y="213360"/>
                </a:cubicBezTo>
                <a:close/>
                <a:moveTo>
                  <a:pt x="19050" y="91440"/>
                </a:moveTo>
                <a:lnTo>
                  <a:pt x="19050" y="413385"/>
                </a:lnTo>
                <a:cubicBezTo>
                  <a:pt x="19050" y="415290"/>
                  <a:pt x="20955" y="417195"/>
                  <a:pt x="22860" y="417195"/>
                </a:cubicBezTo>
                <a:lnTo>
                  <a:pt x="547688" y="417195"/>
                </a:lnTo>
                <a:cubicBezTo>
                  <a:pt x="550545" y="417195"/>
                  <a:pt x="551498" y="415290"/>
                  <a:pt x="551498" y="413385"/>
                </a:cubicBezTo>
                <a:lnTo>
                  <a:pt x="551498" y="91440"/>
                </a:lnTo>
                <a:lnTo>
                  <a:pt x="290513" y="228600"/>
                </a:lnTo>
                <a:cubicBezTo>
                  <a:pt x="288608" y="229553"/>
                  <a:pt x="287655" y="229553"/>
                  <a:pt x="285750" y="229553"/>
                </a:cubicBezTo>
                <a:cubicBezTo>
                  <a:pt x="283845" y="229553"/>
                  <a:pt x="281940" y="229553"/>
                  <a:pt x="280988" y="228600"/>
                </a:cubicBezTo>
                <a:close/>
                <a:moveTo>
                  <a:pt x="22860" y="19050"/>
                </a:moveTo>
                <a:cubicBezTo>
                  <a:pt x="20955" y="19050"/>
                  <a:pt x="19050" y="20955"/>
                  <a:pt x="19050" y="22860"/>
                </a:cubicBezTo>
                <a:lnTo>
                  <a:pt x="19050" y="69533"/>
                </a:lnTo>
                <a:lnTo>
                  <a:pt x="284798" y="209550"/>
                </a:lnTo>
                <a:lnTo>
                  <a:pt x="551498" y="69533"/>
                </a:lnTo>
                <a:lnTo>
                  <a:pt x="551498" y="22860"/>
                </a:lnTo>
                <a:cubicBezTo>
                  <a:pt x="551498" y="20955"/>
                  <a:pt x="549593" y="19050"/>
                  <a:pt x="547688" y="19050"/>
                </a:cubicBezTo>
                <a:close/>
                <a:moveTo>
                  <a:pt x="22860" y="0"/>
                </a:moveTo>
                <a:lnTo>
                  <a:pt x="547688" y="0"/>
                </a:lnTo>
                <a:cubicBezTo>
                  <a:pt x="560070" y="0"/>
                  <a:pt x="570548" y="10478"/>
                  <a:pt x="570548" y="22860"/>
                </a:cubicBezTo>
                <a:lnTo>
                  <a:pt x="570548" y="413385"/>
                </a:lnTo>
                <a:cubicBezTo>
                  <a:pt x="570548" y="425768"/>
                  <a:pt x="560070" y="436245"/>
                  <a:pt x="547688" y="436245"/>
                </a:cubicBezTo>
                <a:lnTo>
                  <a:pt x="22860" y="436245"/>
                </a:lnTo>
                <a:cubicBezTo>
                  <a:pt x="10478" y="436245"/>
                  <a:pt x="0" y="425768"/>
                  <a:pt x="0" y="413385"/>
                </a:cubicBezTo>
                <a:lnTo>
                  <a:pt x="0" y="22860"/>
                </a:lnTo>
                <a:cubicBezTo>
                  <a:pt x="0" y="10478"/>
                  <a:pt x="10478" y="0"/>
                  <a:pt x="22860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1"/>
              </a:gs>
              <a:gs pos="5000">
                <a:schemeClr val="tx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5" tIns="36005" rIns="36005" bIns="360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400" noProof="0"/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AFC464B3-C173-4C0B-A0B2-531D1A535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30" name="Image 1">
            <a:extLst>
              <a:ext uri="{FF2B5EF4-FFF2-40B4-BE49-F238E27FC236}">
                <a16:creationId xmlns:a16="http://schemas.microsoft.com/office/drawing/2014/main" id="{54097F0B-672D-4BF1-A123-7FA6E3B815A5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540070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1" name="Image 2">
            <a:extLst>
              <a:ext uri="{FF2B5EF4-FFF2-40B4-BE49-F238E27FC236}">
                <a16:creationId xmlns:a16="http://schemas.microsoft.com/office/drawing/2014/main" id="{0C099ADD-4A31-45A2-BD94-2DBB57FBDC41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4601399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5FAF6506-47DC-4245-8E56-C9DFE0E03EA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540070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B7BFB22F-A836-49E6-A0D6-55AD08A890A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4" name="Content 1">
            <a:extLst>
              <a:ext uri="{FF2B5EF4-FFF2-40B4-BE49-F238E27FC236}">
                <a16:creationId xmlns:a16="http://schemas.microsoft.com/office/drawing/2014/main" id="{C4B2BB2E-F794-49A4-9FC2-7E1116AEC4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540070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5" name="Content 2">
            <a:extLst>
              <a:ext uri="{FF2B5EF4-FFF2-40B4-BE49-F238E27FC236}">
                <a16:creationId xmlns:a16="http://schemas.microsoft.com/office/drawing/2014/main" id="{FEB6BDA7-BAEE-45FB-8ED4-D38D30C9EBE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FCB2CDBA-85E7-4287-8B71-B675890BDFD5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23C12668-66AD-471D-A51C-E890B6A22E8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8859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2 Pers. Instit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C10B8999-BB45-4D98-BB3A-2129BEDE688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71" y="3428998"/>
            <a:ext cx="9149270" cy="0"/>
          </a:xfrm>
          <a:prstGeom prst="line">
            <a:avLst/>
          </a:prstGeom>
          <a:ln w="19050" cap="flat">
            <a:solidFill>
              <a:schemeClr val="bg1">
                <a:lumMod val="75000"/>
              </a:schemeClr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CON">
            <a:extLst>
              <a:ext uri="{FF2B5EF4-FFF2-40B4-BE49-F238E27FC236}">
                <a16:creationId xmlns:a16="http://schemas.microsoft.com/office/drawing/2014/main" id="{002C0DCF-57EF-47D4-AB88-FB79F717C662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689340" y="3068996"/>
            <a:ext cx="941783" cy="720000"/>
          </a:xfrm>
          <a:custGeom>
            <a:avLst/>
            <a:gdLst>
              <a:gd name="connsiteX0" fmla="*/ 204787 w 570548"/>
              <a:gd name="connsiteY0" fmla="*/ 213360 h 436245"/>
              <a:gd name="connsiteX1" fmla="*/ 273367 w 570548"/>
              <a:gd name="connsiteY1" fmla="*/ 248602 h 436245"/>
              <a:gd name="connsiteX2" fmla="*/ 295275 w 570548"/>
              <a:gd name="connsiteY2" fmla="*/ 248602 h 436245"/>
              <a:gd name="connsiteX3" fmla="*/ 363855 w 570548"/>
              <a:gd name="connsiteY3" fmla="*/ 213360 h 436245"/>
              <a:gd name="connsiteX4" fmla="*/ 375285 w 570548"/>
              <a:gd name="connsiteY4" fmla="*/ 217170 h 436245"/>
              <a:gd name="connsiteX5" fmla="*/ 371475 w 570548"/>
              <a:gd name="connsiteY5" fmla="*/ 229552 h 436245"/>
              <a:gd name="connsiteX6" fmla="*/ 302895 w 570548"/>
              <a:gd name="connsiteY6" fmla="*/ 264795 h 436245"/>
              <a:gd name="connsiteX7" fmla="*/ 283845 w 570548"/>
              <a:gd name="connsiteY7" fmla="*/ 269557 h 436245"/>
              <a:gd name="connsiteX8" fmla="*/ 264795 w 570548"/>
              <a:gd name="connsiteY8" fmla="*/ 264795 h 436245"/>
              <a:gd name="connsiteX9" fmla="*/ 196215 w 570548"/>
              <a:gd name="connsiteY9" fmla="*/ 229552 h 436245"/>
              <a:gd name="connsiteX10" fmla="*/ 192405 w 570548"/>
              <a:gd name="connsiteY10" fmla="*/ 217170 h 436245"/>
              <a:gd name="connsiteX11" fmla="*/ 204787 w 570548"/>
              <a:gd name="connsiteY11" fmla="*/ 213360 h 436245"/>
              <a:gd name="connsiteX12" fmla="*/ 19050 w 570548"/>
              <a:gd name="connsiteY12" fmla="*/ 91440 h 436245"/>
              <a:gd name="connsiteX13" fmla="*/ 19050 w 570548"/>
              <a:gd name="connsiteY13" fmla="*/ 413385 h 436245"/>
              <a:gd name="connsiteX14" fmla="*/ 22860 w 570548"/>
              <a:gd name="connsiteY14" fmla="*/ 417195 h 436245"/>
              <a:gd name="connsiteX15" fmla="*/ 547688 w 570548"/>
              <a:gd name="connsiteY15" fmla="*/ 417195 h 436245"/>
              <a:gd name="connsiteX16" fmla="*/ 551498 w 570548"/>
              <a:gd name="connsiteY16" fmla="*/ 413385 h 436245"/>
              <a:gd name="connsiteX17" fmla="*/ 551498 w 570548"/>
              <a:gd name="connsiteY17" fmla="*/ 91440 h 436245"/>
              <a:gd name="connsiteX18" fmla="*/ 290513 w 570548"/>
              <a:gd name="connsiteY18" fmla="*/ 228600 h 436245"/>
              <a:gd name="connsiteX19" fmla="*/ 285750 w 570548"/>
              <a:gd name="connsiteY19" fmla="*/ 229553 h 436245"/>
              <a:gd name="connsiteX20" fmla="*/ 280988 w 570548"/>
              <a:gd name="connsiteY20" fmla="*/ 228600 h 436245"/>
              <a:gd name="connsiteX21" fmla="*/ 22860 w 570548"/>
              <a:gd name="connsiteY21" fmla="*/ 19050 h 436245"/>
              <a:gd name="connsiteX22" fmla="*/ 19050 w 570548"/>
              <a:gd name="connsiteY22" fmla="*/ 22860 h 436245"/>
              <a:gd name="connsiteX23" fmla="*/ 19050 w 570548"/>
              <a:gd name="connsiteY23" fmla="*/ 69533 h 436245"/>
              <a:gd name="connsiteX24" fmla="*/ 284798 w 570548"/>
              <a:gd name="connsiteY24" fmla="*/ 209550 h 436245"/>
              <a:gd name="connsiteX25" fmla="*/ 551498 w 570548"/>
              <a:gd name="connsiteY25" fmla="*/ 69533 h 436245"/>
              <a:gd name="connsiteX26" fmla="*/ 551498 w 570548"/>
              <a:gd name="connsiteY26" fmla="*/ 22860 h 436245"/>
              <a:gd name="connsiteX27" fmla="*/ 547688 w 570548"/>
              <a:gd name="connsiteY27" fmla="*/ 19050 h 436245"/>
              <a:gd name="connsiteX28" fmla="*/ 22860 w 570548"/>
              <a:gd name="connsiteY28" fmla="*/ 0 h 436245"/>
              <a:gd name="connsiteX29" fmla="*/ 547688 w 570548"/>
              <a:gd name="connsiteY29" fmla="*/ 0 h 436245"/>
              <a:gd name="connsiteX30" fmla="*/ 570548 w 570548"/>
              <a:gd name="connsiteY30" fmla="*/ 22860 h 436245"/>
              <a:gd name="connsiteX31" fmla="*/ 570548 w 570548"/>
              <a:gd name="connsiteY31" fmla="*/ 413385 h 436245"/>
              <a:gd name="connsiteX32" fmla="*/ 547688 w 570548"/>
              <a:gd name="connsiteY32" fmla="*/ 436245 h 436245"/>
              <a:gd name="connsiteX33" fmla="*/ 22860 w 570548"/>
              <a:gd name="connsiteY33" fmla="*/ 436245 h 436245"/>
              <a:gd name="connsiteX34" fmla="*/ 0 w 570548"/>
              <a:gd name="connsiteY34" fmla="*/ 413385 h 436245"/>
              <a:gd name="connsiteX35" fmla="*/ 0 w 570548"/>
              <a:gd name="connsiteY35" fmla="*/ 22860 h 436245"/>
              <a:gd name="connsiteX36" fmla="*/ 22860 w 570548"/>
              <a:gd name="connsiteY36" fmla="*/ 0 h 43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70548" h="436245">
                <a:moveTo>
                  <a:pt x="204787" y="213360"/>
                </a:moveTo>
                <a:lnTo>
                  <a:pt x="273367" y="248602"/>
                </a:lnTo>
                <a:cubicBezTo>
                  <a:pt x="279082" y="251460"/>
                  <a:pt x="287655" y="252412"/>
                  <a:pt x="295275" y="248602"/>
                </a:cubicBezTo>
                <a:lnTo>
                  <a:pt x="363855" y="213360"/>
                </a:lnTo>
                <a:cubicBezTo>
                  <a:pt x="368617" y="211455"/>
                  <a:pt x="374332" y="213360"/>
                  <a:pt x="375285" y="217170"/>
                </a:cubicBezTo>
                <a:cubicBezTo>
                  <a:pt x="378142" y="220980"/>
                  <a:pt x="376237" y="226695"/>
                  <a:pt x="371475" y="229552"/>
                </a:cubicBezTo>
                <a:lnTo>
                  <a:pt x="302895" y="264795"/>
                </a:lnTo>
                <a:cubicBezTo>
                  <a:pt x="296227" y="267652"/>
                  <a:pt x="290512" y="269557"/>
                  <a:pt x="283845" y="269557"/>
                </a:cubicBezTo>
                <a:cubicBezTo>
                  <a:pt x="277177" y="269557"/>
                  <a:pt x="270510" y="267652"/>
                  <a:pt x="264795" y="264795"/>
                </a:cubicBezTo>
                <a:lnTo>
                  <a:pt x="196215" y="229552"/>
                </a:lnTo>
                <a:cubicBezTo>
                  <a:pt x="191452" y="227647"/>
                  <a:pt x="189547" y="221932"/>
                  <a:pt x="192405" y="217170"/>
                </a:cubicBezTo>
                <a:cubicBezTo>
                  <a:pt x="194310" y="212407"/>
                  <a:pt x="200025" y="210502"/>
                  <a:pt x="204787" y="213360"/>
                </a:cubicBezTo>
                <a:close/>
                <a:moveTo>
                  <a:pt x="19050" y="91440"/>
                </a:moveTo>
                <a:lnTo>
                  <a:pt x="19050" y="413385"/>
                </a:lnTo>
                <a:cubicBezTo>
                  <a:pt x="19050" y="415290"/>
                  <a:pt x="20955" y="417195"/>
                  <a:pt x="22860" y="417195"/>
                </a:cubicBezTo>
                <a:lnTo>
                  <a:pt x="547688" y="417195"/>
                </a:lnTo>
                <a:cubicBezTo>
                  <a:pt x="550545" y="417195"/>
                  <a:pt x="551498" y="415290"/>
                  <a:pt x="551498" y="413385"/>
                </a:cubicBezTo>
                <a:lnTo>
                  <a:pt x="551498" y="91440"/>
                </a:lnTo>
                <a:lnTo>
                  <a:pt x="290513" y="228600"/>
                </a:lnTo>
                <a:cubicBezTo>
                  <a:pt x="288608" y="229553"/>
                  <a:pt x="287655" y="229553"/>
                  <a:pt x="285750" y="229553"/>
                </a:cubicBezTo>
                <a:cubicBezTo>
                  <a:pt x="283845" y="229553"/>
                  <a:pt x="281940" y="229553"/>
                  <a:pt x="280988" y="228600"/>
                </a:cubicBezTo>
                <a:close/>
                <a:moveTo>
                  <a:pt x="22860" y="19050"/>
                </a:moveTo>
                <a:cubicBezTo>
                  <a:pt x="20955" y="19050"/>
                  <a:pt x="19050" y="20955"/>
                  <a:pt x="19050" y="22860"/>
                </a:cubicBezTo>
                <a:lnTo>
                  <a:pt x="19050" y="69533"/>
                </a:lnTo>
                <a:lnTo>
                  <a:pt x="284798" y="209550"/>
                </a:lnTo>
                <a:lnTo>
                  <a:pt x="551498" y="69533"/>
                </a:lnTo>
                <a:lnTo>
                  <a:pt x="551498" y="22860"/>
                </a:lnTo>
                <a:cubicBezTo>
                  <a:pt x="551498" y="20955"/>
                  <a:pt x="549593" y="19050"/>
                  <a:pt x="547688" y="19050"/>
                </a:cubicBezTo>
                <a:close/>
                <a:moveTo>
                  <a:pt x="22860" y="0"/>
                </a:moveTo>
                <a:lnTo>
                  <a:pt x="547688" y="0"/>
                </a:lnTo>
                <a:cubicBezTo>
                  <a:pt x="560070" y="0"/>
                  <a:pt x="570548" y="10478"/>
                  <a:pt x="570548" y="22860"/>
                </a:cubicBezTo>
                <a:lnTo>
                  <a:pt x="570548" y="413385"/>
                </a:lnTo>
                <a:cubicBezTo>
                  <a:pt x="570548" y="425768"/>
                  <a:pt x="560070" y="436245"/>
                  <a:pt x="547688" y="436245"/>
                </a:cubicBezTo>
                <a:lnTo>
                  <a:pt x="22860" y="436245"/>
                </a:lnTo>
                <a:cubicBezTo>
                  <a:pt x="10478" y="436245"/>
                  <a:pt x="0" y="425768"/>
                  <a:pt x="0" y="413385"/>
                </a:cubicBezTo>
                <a:lnTo>
                  <a:pt x="0" y="22860"/>
                </a:lnTo>
                <a:cubicBezTo>
                  <a:pt x="0" y="10478"/>
                  <a:pt x="10478" y="0"/>
                  <a:pt x="22860" y="0"/>
                </a:cubicBezTo>
                <a:close/>
              </a:path>
            </a:pathLst>
          </a:custGeom>
          <a:gradFill flip="none" rotWithShape="1">
            <a:gsLst>
              <a:gs pos="90000">
                <a:schemeClr val="accent1"/>
              </a:gs>
              <a:gs pos="5000">
                <a:schemeClr val="tx2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5" tIns="36005" rIns="36005" bIns="360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400" noProof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ADAA1A5A-90F7-4A4D-92F6-7D6A1D7D50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16" name="Image 1">
            <a:extLst>
              <a:ext uri="{FF2B5EF4-FFF2-40B4-BE49-F238E27FC236}">
                <a16:creationId xmlns:a16="http://schemas.microsoft.com/office/drawing/2014/main" id="{8B17D641-FFC8-429B-88FA-19049BA1AD0D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540070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17" name="Image 2">
            <a:extLst>
              <a:ext uri="{FF2B5EF4-FFF2-40B4-BE49-F238E27FC236}">
                <a16:creationId xmlns:a16="http://schemas.microsoft.com/office/drawing/2014/main" id="{9C0C7FD0-F399-4FCC-8D76-B70187411996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4601399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F9122B29-8911-4757-978B-9A796768164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540070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1ACA1404-0A06-4FFD-8E4D-94B6CD171AB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2" name="Content 1">
            <a:extLst>
              <a:ext uri="{FF2B5EF4-FFF2-40B4-BE49-F238E27FC236}">
                <a16:creationId xmlns:a16="http://schemas.microsoft.com/office/drawing/2014/main" id="{3DA7BAC4-6065-4FA8-B6D2-F5A2508A2DE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540070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8" name="Content 2">
            <a:extLst>
              <a:ext uri="{FF2B5EF4-FFF2-40B4-BE49-F238E27FC236}">
                <a16:creationId xmlns:a16="http://schemas.microsoft.com/office/drawing/2014/main" id="{7AFAF66A-684C-4475-B205-C558DEE1E5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184D0C07-BB1D-4279-A170-56B1D5EB4181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4C1E6DB-B461-466F-9C18-B833A9BDFCD1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935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3 Pers. Instit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15B053B-5F1C-473C-945B-BBF927EDABF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71" y="3428998"/>
            <a:ext cx="10045309" cy="0"/>
          </a:xfrm>
          <a:prstGeom prst="line">
            <a:avLst/>
          </a:prstGeom>
          <a:ln w="19050" cap="flat">
            <a:solidFill>
              <a:schemeClr val="bg1">
                <a:lumMod val="75000"/>
              </a:schemeClr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">
            <a:extLst>
              <a:ext uri="{FF2B5EF4-FFF2-40B4-BE49-F238E27FC236}">
                <a16:creationId xmlns:a16="http://schemas.microsoft.com/office/drawing/2014/main" id="{DE61A953-CEFF-4D37-BB89-4193F90B7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23" name="Image 1">
            <a:extLst>
              <a:ext uri="{FF2B5EF4-FFF2-40B4-BE49-F238E27FC236}">
                <a16:creationId xmlns:a16="http://schemas.microsoft.com/office/drawing/2014/main" id="{ACE5124E-060A-4013-BED9-7B3BF5023D6D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540070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4" name="Image 2">
            <a:extLst>
              <a:ext uri="{FF2B5EF4-FFF2-40B4-BE49-F238E27FC236}">
                <a16:creationId xmlns:a16="http://schemas.microsoft.com/office/drawing/2014/main" id="{DF5DECA7-9F3E-49FD-ABC9-CCDCDC9D9E57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4601399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8" name="Image 3">
            <a:extLst>
              <a:ext uri="{FF2B5EF4-FFF2-40B4-BE49-F238E27FC236}">
                <a16:creationId xmlns:a16="http://schemas.microsoft.com/office/drawing/2014/main" id="{EFF60ADA-6B20-492D-93D5-EAC638BBDA26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 bwMode="gray">
          <a:xfrm>
            <a:off x="8666328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F65B1B4A-DE39-45D2-B8ED-A722CF6134B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540070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C74FC3B6-9746-4429-AE7E-DC57993B1E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C1803A4-CEEC-4726-BF09-A2E04396317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8666328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2" name="Content 1">
            <a:extLst>
              <a:ext uri="{FF2B5EF4-FFF2-40B4-BE49-F238E27FC236}">
                <a16:creationId xmlns:a16="http://schemas.microsoft.com/office/drawing/2014/main" id="{9B5BB7A7-B8F2-41D9-971E-FECE5E47BB1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540070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3" name="Content 2">
            <a:extLst>
              <a:ext uri="{FF2B5EF4-FFF2-40B4-BE49-F238E27FC236}">
                <a16:creationId xmlns:a16="http://schemas.microsoft.com/office/drawing/2014/main" id="{7BA91949-210F-4EF5-81D3-38D2598D0E6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4" name="Content 3">
            <a:extLst>
              <a:ext uri="{FF2B5EF4-FFF2-40B4-BE49-F238E27FC236}">
                <a16:creationId xmlns:a16="http://schemas.microsoft.com/office/drawing/2014/main" id="{05F72C19-4EF9-4600-BCC7-3895578F72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666328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C3DB9625-9417-4EFC-8AE7-B1BE8D3E7635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2ADD808-DD3E-4BDF-80D9-56DA9F14AEA8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6164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3 Pers. Instit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1B3ED75-97CF-4994-B4E0-9A9CD6352BF0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71" y="3428998"/>
            <a:ext cx="10045309" cy="0"/>
          </a:xfrm>
          <a:prstGeom prst="line">
            <a:avLst/>
          </a:prstGeom>
          <a:ln w="19050" cap="flat">
            <a:solidFill>
              <a:schemeClr val="bg1">
                <a:lumMod val="75000"/>
              </a:schemeClr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">
            <a:extLst>
              <a:ext uri="{FF2B5EF4-FFF2-40B4-BE49-F238E27FC236}">
                <a16:creationId xmlns:a16="http://schemas.microsoft.com/office/drawing/2014/main" id="{B98DD5D2-00BF-460B-A995-1C73E41F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396000"/>
          </a:xfrm>
        </p:spPr>
        <p:txBody>
          <a:bodyPr/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24" name="Image 1">
            <a:extLst>
              <a:ext uri="{FF2B5EF4-FFF2-40B4-BE49-F238E27FC236}">
                <a16:creationId xmlns:a16="http://schemas.microsoft.com/office/drawing/2014/main" id="{68F2832F-C83F-4D31-B052-3912D7454FE5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 bwMode="gray">
          <a:xfrm>
            <a:off x="540070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8" name="Image 2">
            <a:extLst>
              <a:ext uri="{FF2B5EF4-FFF2-40B4-BE49-F238E27FC236}">
                <a16:creationId xmlns:a16="http://schemas.microsoft.com/office/drawing/2014/main" id="{176F710A-6266-495C-A0C1-314441FAB111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 bwMode="gray">
          <a:xfrm>
            <a:off x="4601399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29" name="Image 3">
            <a:extLst>
              <a:ext uri="{FF2B5EF4-FFF2-40B4-BE49-F238E27FC236}">
                <a16:creationId xmlns:a16="http://schemas.microsoft.com/office/drawing/2014/main" id="{CC6FB217-7299-45FB-A2EE-8745340EE916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 bwMode="gray">
          <a:xfrm>
            <a:off x="8666328" y="1512000"/>
            <a:ext cx="1908248" cy="1908000"/>
          </a:xfr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buNone/>
              <a:defRPr lang="de-DE" dirty="0"/>
            </a:lvl1pPr>
          </a:lstStyle>
          <a:p>
            <a:pPr marL="270027" lvl="0" indent="-270027" algn="ctr"/>
            <a:r>
              <a:rPr lang="en-US" noProof="0" dirty="0"/>
              <a:t>Add image by clicking on icon</a:t>
            </a: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F10AAA25-7CE7-403B-A209-0C84B2D4FE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540070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9F0A79B9-0B02-4846-85BF-44C86262931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4601399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3427281-D1F9-4E0D-8AAB-5CCBF235FF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8666328" y="3420000"/>
            <a:ext cx="2984789" cy="720000"/>
          </a:xfrm>
          <a:noFill/>
        </p:spPr>
        <p:txBody>
          <a:bodyPr lIns="0" rIns="0" bIns="0" anchor="b" anchorCtr="0"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3" name="Content 1">
            <a:extLst>
              <a:ext uri="{FF2B5EF4-FFF2-40B4-BE49-F238E27FC236}">
                <a16:creationId xmlns:a16="http://schemas.microsoft.com/office/drawing/2014/main" id="{FA2FE6CF-D489-41E9-B973-04E8C0ADEC5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540070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4" name="Content 2">
            <a:extLst>
              <a:ext uri="{FF2B5EF4-FFF2-40B4-BE49-F238E27FC236}">
                <a16:creationId xmlns:a16="http://schemas.microsoft.com/office/drawing/2014/main" id="{CAD73E3E-DC42-4FAB-9166-E3D01EE55C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601399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35" name="Content 3">
            <a:extLst>
              <a:ext uri="{FF2B5EF4-FFF2-40B4-BE49-F238E27FC236}">
                <a16:creationId xmlns:a16="http://schemas.microsoft.com/office/drawing/2014/main" id="{12710038-383D-4435-8E05-9677AF06A4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666328" y="4140000"/>
            <a:ext cx="2984789" cy="2070300"/>
          </a:xfrm>
        </p:spPr>
        <p:txBody>
          <a:bodyPr tIns="216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266727" indent="0">
              <a:buNone/>
              <a:defRPr sz="1200"/>
            </a:lvl2pPr>
            <a:lvl3pPr marL="542979" indent="0">
              <a:buNone/>
              <a:defRPr sz="1200"/>
            </a:lvl3pPr>
            <a:lvl4pPr marL="809706" indent="0">
              <a:buNone/>
              <a:defRPr sz="1200"/>
            </a:lvl4pPr>
            <a:lvl5pPr marL="1076433" indent="0">
              <a:buNone/>
              <a:defRPr sz="1200"/>
            </a:lvl5pPr>
          </a:lstStyle>
          <a:p>
            <a:pPr lvl="0"/>
            <a:r>
              <a:rPr lang="en-US" noProof="0" dirty="0"/>
              <a:t>Add text by clicking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58225233-3FFF-49D4-AA19-6366AB3F4F28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 bwMode="gray"/>
        <p:txBody>
          <a:bodyPr/>
          <a:lstStyle/>
          <a:p>
            <a:r>
              <a:rPr lang="en-US" noProof="0" dirty="0"/>
              <a:t>© Heinz Nixdorf </a:t>
            </a:r>
            <a:r>
              <a:rPr lang="en-US" noProof="1"/>
              <a:t>Institute</a:t>
            </a:r>
            <a:r>
              <a:rPr lang="en-US" noProof="0" dirty="0"/>
              <a:t> / Fraunhofer IEM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94C2E03-CB9E-4B58-B482-E7ED1D7622E4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 bwMode="gray"/>
        <p:txBody>
          <a:bodyPr/>
          <a:lstStyle/>
          <a:p>
            <a:fld id="{65685BD5-7F70-499C-8F04-1460C72EE5D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1005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uxiliary line">
            <a:extLst>
              <a:ext uri="{FF2B5EF4-FFF2-40B4-BE49-F238E27FC236}">
                <a16:creationId xmlns:a16="http://schemas.microsoft.com/office/drawing/2014/main" id="{8A019846-B64A-447A-8172-6F914E6D4F03}"/>
              </a:ext>
            </a:extLst>
          </p:cNvPr>
          <p:cNvGrpSpPr/>
          <p:nvPr userDrawn="1"/>
        </p:nvGrpSpPr>
        <p:grpSpPr bwMode="gray">
          <a:xfrm>
            <a:off x="-737348" y="-737252"/>
            <a:ext cx="12388466" cy="7487552"/>
            <a:chOff x="-737348" y="-737252"/>
            <a:chExt cx="12388466" cy="7487552"/>
          </a:xfrm>
        </p:grpSpPr>
        <p:grpSp>
          <p:nvGrpSpPr>
            <p:cNvPr id="33" name="Auxiliary line">
              <a:extLst>
                <a:ext uri="{FF2B5EF4-FFF2-40B4-BE49-F238E27FC236}">
                  <a16:creationId xmlns:a16="http://schemas.microsoft.com/office/drawing/2014/main" id="{F8EA553C-2B1A-455D-9F39-1C6E6A3ABE76}"/>
                </a:ext>
              </a:extLst>
            </p:cNvPr>
            <p:cNvGrpSpPr/>
            <p:nvPr userDrawn="1"/>
          </p:nvGrpSpPr>
          <p:grpSpPr bwMode="gray">
            <a:xfrm>
              <a:off x="538233" y="-737252"/>
              <a:ext cx="8490943" cy="720000"/>
              <a:chOff x="538163" y="-737252"/>
              <a:chExt cx="8489837" cy="720000"/>
            </a:xfrm>
          </p:grpSpPr>
          <p:cxnSp>
            <p:nvCxnSpPr>
              <p:cNvPr id="46" name="Line">
                <a:extLst>
                  <a:ext uri="{FF2B5EF4-FFF2-40B4-BE49-F238E27FC236}">
                    <a16:creationId xmlns:a16="http://schemas.microsoft.com/office/drawing/2014/main" id="{9B37005D-054E-45D7-A713-7E0D3A4D79BD}"/>
                  </a:ext>
                </a:extLst>
              </p:cNvPr>
              <p:cNvCxnSpPr/>
              <p:nvPr userDrawn="1"/>
            </p:nvCxnSpPr>
            <p:spPr bwMode="gray">
              <a:xfrm flipV="1">
                <a:off x="538164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">
                <a:extLst>
                  <a:ext uri="{FF2B5EF4-FFF2-40B4-BE49-F238E27FC236}">
                    <a16:creationId xmlns:a16="http://schemas.microsoft.com/office/drawing/2014/main" id="{C9CAF25F-A04E-43B4-BB06-EA9E18676B77}"/>
                  </a:ext>
                </a:extLst>
              </p:cNvPr>
              <p:cNvSpPr txBox="1"/>
              <p:nvPr userDrawn="1"/>
            </p:nvSpPr>
            <p:spPr bwMode="gray">
              <a:xfrm>
                <a:off x="538163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7200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15,43</a:t>
                </a:r>
              </a:p>
            </p:txBody>
          </p:sp>
          <p:cxnSp>
            <p:nvCxnSpPr>
              <p:cNvPr id="48" name="Line">
                <a:extLst>
                  <a:ext uri="{FF2B5EF4-FFF2-40B4-BE49-F238E27FC236}">
                    <a16:creationId xmlns:a16="http://schemas.microsoft.com/office/drawing/2014/main" id="{C2E239CF-4C31-4598-9F3C-2CFFF800CB1A}"/>
                  </a:ext>
                </a:extLst>
              </p:cNvPr>
              <p:cNvCxnSpPr/>
              <p:nvPr userDrawn="1"/>
            </p:nvCxnSpPr>
            <p:spPr bwMode="gray">
              <a:xfrm flipV="1">
                <a:off x="4060825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">
                <a:extLst>
                  <a:ext uri="{FF2B5EF4-FFF2-40B4-BE49-F238E27FC236}">
                    <a16:creationId xmlns:a16="http://schemas.microsoft.com/office/drawing/2014/main" id="{86E5A0D7-5C86-4057-9E8A-AD4B6C004369}"/>
                  </a:ext>
                </a:extLst>
              </p:cNvPr>
              <p:cNvSpPr txBox="1"/>
              <p:nvPr userDrawn="1"/>
            </p:nvSpPr>
            <p:spPr bwMode="gray">
              <a:xfrm>
                <a:off x="4060824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7200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5,65</a:t>
                </a:r>
              </a:p>
            </p:txBody>
          </p:sp>
          <p:cxnSp>
            <p:nvCxnSpPr>
              <p:cNvPr id="50" name="Line">
                <a:extLst>
                  <a:ext uri="{FF2B5EF4-FFF2-40B4-BE49-F238E27FC236}">
                    <a16:creationId xmlns:a16="http://schemas.microsoft.com/office/drawing/2014/main" id="{6DE3FC2C-66F2-4AA6-A07B-9EED2743F108}"/>
                  </a:ext>
                </a:extLst>
              </p:cNvPr>
              <p:cNvCxnSpPr/>
              <p:nvPr userDrawn="1"/>
            </p:nvCxnSpPr>
            <p:spPr bwMode="gray">
              <a:xfrm flipV="1">
                <a:off x="8128001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">
                <a:extLst>
                  <a:ext uri="{FF2B5EF4-FFF2-40B4-BE49-F238E27FC236}">
                    <a16:creationId xmlns:a16="http://schemas.microsoft.com/office/drawing/2014/main" id="{89B4FE51-8980-4248-AA9E-67765C0575C2}"/>
                  </a:ext>
                </a:extLst>
              </p:cNvPr>
              <p:cNvSpPr txBox="1"/>
              <p:nvPr userDrawn="1"/>
            </p:nvSpPr>
            <p:spPr bwMode="gray">
              <a:xfrm>
                <a:off x="8128000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7200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5,65</a:t>
                </a:r>
              </a:p>
            </p:txBody>
          </p:sp>
        </p:grpSp>
        <p:grpSp>
          <p:nvGrpSpPr>
            <p:cNvPr id="34" name="Auxiliary line">
              <a:extLst>
                <a:ext uri="{FF2B5EF4-FFF2-40B4-BE49-F238E27FC236}">
                  <a16:creationId xmlns:a16="http://schemas.microsoft.com/office/drawing/2014/main" id="{22B42123-F804-4B11-87BA-555F0FB1D8EB}"/>
                </a:ext>
              </a:extLst>
            </p:cNvPr>
            <p:cNvGrpSpPr/>
            <p:nvPr userDrawn="1"/>
          </p:nvGrpSpPr>
          <p:grpSpPr bwMode="gray">
            <a:xfrm>
              <a:off x="10751001" y="-737252"/>
              <a:ext cx="900117" cy="720000"/>
              <a:chOff x="10749601" y="-737252"/>
              <a:chExt cx="900000" cy="720000"/>
            </a:xfrm>
          </p:grpSpPr>
          <p:cxnSp>
            <p:nvCxnSpPr>
              <p:cNvPr id="44" name="Line">
                <a:extLst>
                  <a:ext uri="{FF2B5EF4-FFF2-40B4-BE49-F238E27FC236}">
                    <a16:creationId xmlns:a16="http://schemas.microsoft.com/office/drawing/2014/main" id="{E5300B31-6D6C-4F6E-B19E-2901A2BE1F83}"/>
                  </a:ext>
                </a:extLst>
              </p:cNvPr>
              <p:cNvCxnSpPr/>
              <p:nvPr userDrawn="1"/>
            </p:nvCxnSpPr>
            <p:spPr bwMode="gray">
              <a:xfrm flipV="1">
                <a:off x="11649601" y="-737252"/>
                <a:ext cx="0" cy="72000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">
                <a:extLst>
                  <a:ext uri="{FF2B5EF4-FFF2-40B4-BE49-F238E27FC236}">
                    <a16:creationId xmlns:a16="http://schemas.microsoft.com/office/drawing/2014/main" id="{4510DFC9-91E3-44AE-B37B-B6D0CB7769EB}"/>
                  </a:ext>
                </a:extLst>
              </p:cNvPr>
              <p:cNvSpPr txBox="1"/>
              <p:nvPr userDrawn="1"/>
            </p:nvSpPr>
            <p:spPr bwMode="gray">
              <a:xfrm>
                <a:off x="10749601" y="-720000"/>
                <a:ext cx="900000" cy="540000"/>
              </a:xfrm>
              <a:prstGeom prst="rect">
                <a:avLst/>
              </a:prstGeom>
              <a:noFill/>
            </p:spPr>
            <p:txBody>
              <a:bodyPr wrap="square" lIns="0" tIns="0" rIns="72000" bIns="0" rtlCol="0">
                <a:noAutofit/>
              </a:bodyPr>
              <a:lstStyle/>
              <a:p>
                <a:pPr algn="r"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15,43</a:t>
                </a:r>
              </a:p>
            </p:txBody>
          </p:sp>
        </p:grpSp>
        <p:grpSp>
          <p:nvGrpSpPr>
            <p:cNvPr id="35" name="Auxiliary line">
              <a:extLst>
                <a:ext uri="{FF2B5EF4-FFF2-40B4-BE49-F238E27FC236}">
                  <a16:creationId xmlns:a16="http://schemas.microsoft.com/office/drawing/2014/main" id="{EC4D3013-BC96-46BD-B432-949E31B32214}"/>
                </a:ext>
              </a:extLst>
            </p:cNvPr>
            <p:cNvGrpSpPr/>
            <p:nvPr userDrawn="1"/>
          </p:nvGrpSpPr>
          <p:grpSpPr bwMode="gray">
            <a:xfrm>
              <a:off x="-737348" y="432000"/>
              <a:ext cx="737348" cy="540000"/>
              <a:chOff x="-737252" y="432000"/>
              <a:chExt cx="737252" cy="540000"/>
            </a:xfrm>
          </p:grpSpPr>
          <p:cxnSp>
            <p:nvCxnSpPr>
              <p:cNvPr id="42" name="Line">
                <a:extLst>
                  <a:ext uri="{FF2B5EF4-FFF2-40B4-BE49-F238E27FC236}">
                    <a16:creationId xmlns:a16="http://schemas.microsoft.com/office/drawing/2014/main" id="{B33C227D-A47A-4DDF-AE92-E71E84622A82}"/>
                  </a:ext>
                </a:extLst>
              </p:cNvPr>
              <p:cNvCxnSpPr/>
              <p:nvPr/>
            </p:nvCxnSpPr>
            <p:spPr bwMode="gray">
              <a:xfrm>
                <a:off x="-737252" y="4320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">
                <a:extLst>
                  <a:ext uri="{FF2B5EF4-FFF2-40B4-BE49-F238E27FC236}">
                    <a16:creationId xmlns:a16="http://schemas.microsoft.com/office/drawing/2014/main" id="{01765DDA-1112-417D-9463-1975F0AC5B27}"/>
                  </a:ext>
                </a:extLst>
              </p:cNvPr>
              <p:cNvSpPr txBox="1"/>
              <p:nvPr userDrawn="1"/>
            </p:nvSpPr>
            <p:spPr bwMode="gray">
              <a:xfrm>
                <a:off x="-720000" y="4320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8,32</a:t>
                </a:r>
              </a:p>
            </p:txBody>
          </p:sp>
        </p:grpSp>
        <p:grpSp>
          <p:nvGrpSpPr>
            <p:cNvPr id="36" name="Auxiliary line">
              <a:extLst>
                <a:ext uri="{FF2B5EF4-FFF2-40B4-BE49-F238E27FC236}">
                  <a16:creationId xmlns:a16="http://schemas.microsoft.com/office/drawing/2014/main" id="{1BF41E65-EFBA-4537-9B9C-801BC3595119}"/>
                </a:ext>
              </a:extLst>
            </p:cNvPr>
            <p:cNvGrpSpPr/>
            <p:nvPr userDrawn="1"/>
          </p:nvGrpSpPr>
          <p:grpSpPr bwMode="gray">
            <a:xfrm>
              <a:off x="-737348" y="1512000"/>
              <a:ext cx="737348" cy="540000"/>
              <a:chOff x="-737252" y="1512000"/>
              <a:chExt cx="737252" cy="540000"/>
            </a:xfrm>
          </p:grpSpPr>
          <p:cxnSp>
            <p:nvCxnSpPr>
              <p:cNvPr id="40" name="Line">
                <a:extLst>
                  <a:ext uri="{FF2B5EF4-FFF2-40B4-BE49-F238E27FC236}">
                    <a16:creationId xmlns:a16="http://schemas.microsoft.com/office/drawing/2014/main" id="{8667A443-770B-440E-A70F-5CE12E7AD8A7}"/>
                  </a:ext>
                </a:extLst>
              </p:cNvPr>
              <p:cNvCxnSpPr/>
              <p:nvPr userDrawn="1"/>
            </p:nvCxnSpPr>
            <p:spPr bwMode="gray">
              <a:xfrm>
                <a:off x="-737252" y="15120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">
                <a:extLst>
                  <a:ext uri="{FF2B5EF4-FFF2-40B4-BE49-F238E27FC236}">
                    <a16:creationId xmlns:a16="http://schemas.microsoft.com/office/drawing/2014/main" id="{E433A705-4C95-4F71-8547-23130028F169}"/>
                  </a:ext>
                </a:extLst>
              </p:cNvPr>
              <p:cNvSpPr txBox="1"/>
              <p:nvPr userDrawn="1"/>
            </p:nvSpPr>
            <p:spPr bwMode="gray">
              <a:xfrm>
                <a:off x="-720000" y="15120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5,33</a:t>
                </a:r>
              </a:p>
            </p:txBody>
          </p:sp>
        </p:grpSp>
        <p:grpSp>
          <p:nvGrpSpPr>
            <p:cNvPr id="37" name="Auxiliary line">
              <a:extLst>
                <a:ext uri="{FF2B5EF4-FFF2-40B4-BE49-F238E27FC236}">
                  <a16:creationId xmlns:a16="http://schemas.microsoft.com/office/drawing/2014/main" id="{A41BB2B1-F0EB-4A5D-B7BE-CDF1C60AE0E4}"/>
                </a:ext>
              </a:extLst>
            </p:cNvPr>
            <p:cNvGrpSpPr/>
            <p:nvPr userDrawn="1"/>
          </p:nvGrpSpPr>
          <p:grpSpPr bwMode="gray">
            <a:xfrm>
              <a:off x="-737348" y="6210300"/>
              <a:ext cx="737348" cy="540000"/>
              <a:chOff x="-737252" y="6210300"/>
              <a:chExt cx="737252" cy="540000"/>
            </a:xfrm>
          </p:grpSpPr>
          <p:sp>
            <p:nvSpPr>
              <p:cNvPr id="38" name="Text">
                <a:extLst>
                  <a:ext uri="{FF2B5EF4-FFF2-40B4-BE49-F238E27FC236}">
                    <a16:creationId xmlns:a16="http://schemas.microsoft.com/office/drawing/2014/main" id="{D1212F74-C9E0-4D6D-B9A9-A7B144532636}"/>
                  </a:ext>
                </a:extLst>
              </p:cNvPr>
              <p:cNvSpPr txBox="1"/>
              <p:nvPr userDrawn="1"/>
            </p:nvSpPr>
            <p:spPr bwMode="gray">
              <a:xfrm>
                <a:off x="-720000" y="6210300"/>
                <a:ext cx="720000" cy="54000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noAutofit/>
              </a:bodyPr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r>
                  <a:rPr lang="en-US" sz="1200" noProof="0" dirty="0"/>
                  <a:t>Position Auxiliary line</a:t>
                </a:r>
                <a:br>
                  <a:rPr lang="en-US" sz="1200" noProof="0" dirty="0"/>
                </a:br>
                <a:r>
                  <a:rPr lang="en-US" sz="1200" noProof="0" dirty="0"/>
                  <a:t>7,72</a:t>
                </a:r>
              </a:p>
            </p:txBody>
          </p:sp>
          <p:cxnSp>
            <p:nvCxnSpPr>
              <p:cNvPr id="39" name="Line">
                <a:extLst>
                  <a:ext uri="{FF2B5EF4-FFF2-40B4-BE49-F238E27FC236}">
                    <a16:creationId xmlns:a16="http://schemas.microsoft.com/office/drawing/2014/main" id="{4E6CD564-2E7F-4BF9-8AAB-58B004A8332E}"/>
                  </a:ext>
                </a:extLst>
              </p:cNvPr>
              <p:cNvCxnSpPr/>
              <p:nvPr userDrawn="1"/>
            </p:nvCxnSpPr>
            <p:spPr bwMode="gray">
              <a:xfrm>
                <a:off x="-737252" y="6210300"/>
                <a:ext cx="72000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Color palette">
            <a:extLst>
              <a:ext uri="{FF2B5EF4-FFF2-40B4-BE49-F238E27FC236}">
                <a16:creationId xmlns:a16="http://schemas.microsoft.com/office/drawing/2014/main" id="{5521E296-85CB-451D-98A2-CC4418698B5F}"/>
              </a:ext>
            </a:extLst>
          </p:cNvPr>
          <p:cNvGrpSpPr/>
          <p:nvPr userDrawn="1"/>
        </p:nvGrpSpPr>
        <p:grpSpPr bwMode="gray">
          <a:xfrm>
            <a:off x="12407215" y="0"/>
            <a:ext cx="1372513" cy="6858000"/>
            <a:chOff x="12407215" y="0"/>
            <a:chExt cx="1372513" cy="6858000"/>
          </a:xfrm>
        </p:grpSpPr>
        <p:grpSp>
          <p:nvGrpSpPr>
            <p:cNvPr id="2" name="HNI">
              <a:extLst>
                <a:ext uri="{FF2B5EF4-FFF2-40B4-BE49-F238E27FC236}">
                  <a16:creationId xmlns:a16="http://schemas.microsoft.com/office/drawing/2014/main" id="{6FFC1219-B3E6-4ACD-A242-9C1D4B83651E}"/>
                </a:ext>
              </a:extLst>
            </p:cNvPr>
            <p:cNvGrpSpPr/>
            <p:nvPr userDrawn="1"/>
          </p:nvGrpSpPr>
          <p:grpSpPr bwMode="gray">
            <a:xfrm>
              <a:off x="12411551" y="4120641"/>
              <a:ext cx="1366017" cy="2737359"/>
              <a:chOff x="12411551" y="4120641"/>
              <a:chExt cx="1366017" cy="2737359"/>
            </a:xfrm>
          </p:grpSpPr>
          <p:sp>
            <p:nvSpPr>
              <p:cNvPr id="53" name="Text 52">
                <a:extLst>
                  <a:ext uri="{FF2B5EF4-FFF2-40B4-BE49-F238E27FC236}">
                    <a16:creationId xmlns:a16="http://schemas.microsoft.com/office/drawing/2014/main" id="{910CF911-1165-4023-BE0C-DE8C4E52D356}"/>
                  </a:ext>
                </a:extLst>
              </p:cNvPr>
              <p:cNvSpPr txBox="1"/>
              <p:nvPr userDrawn="1"/>
            </p:nvSpPr>
            <p:spPr bwMode="gray">
              <a:xfrm>
                <a:off x="12411551" y="4120641"/>
                <a:ext cx="282229" cy="10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1000" b="1" noProof="0" dirty="0">
                    <a:latin typeface="+mn-lt"/>
                    <a:cs typeface="Arial" panose="020B0604020202020204" pitchFamily="34" charset="0"/>
                  </a:rPr>
                  <a:t>HNI</a:t>
                </a:r>
              </a:p>
            </p:txBody>
          </p:sp>
          <p:cxnSp>
            <p:nvCxnSpPr>
              <p:cNvPr id="54" name="Straight connector">
                <a:extLst>
                  <a:ext uri="{FF2B5EF4-FFF2-40B4-BE49-F238E27FC236}">
                    <a16:creationId xmlns:a16="http://schemas.microsoft.com/office/drawing/2014/main" id="{D0B1A41B-B681-4AAB-9242-C9561835E5FD}"/>
                  </a:ext>
                </a:extLst>
              </p:cNvPr>
              <p:cNvCxnSpPr/>
              <p:nvPr userDrawn="1"/>
            </p:nvCxnSpPr>
            <p:spPr bwMode="gray">
              <a:xfrm>
                <a:off x="12411551" y="4285441"/>
                <a:ext cx="135390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9517F97-9472-47BE-A3BC-E77F6E255A9E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4929121"/>
                <a:ext cx="213868" cy="213840"/>
              </a:xfrm>
              <a:prstGeom prst="rect">
                <a:avLst/>
              </a:prstGeom>
              <a:solidFill>
                <a:srgbClr val="3391C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477271F-BBAD-41E4-957C-6677A44746C5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4929121"/>
                <a:ext cx="213868" cy="213840"/>
              </a:xfrm>
              <a:prstGeom prst="rect">
                <a:avLst/>
              </a:prstGeom>
              <a:solidFill>
                <a:srgbClr val="67AE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8CF8317-AEC1-460A-9494-FEBE81E752FE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4929121"/>
                <a:ext cx="213868" cy="213840"/>
              </a:xfrm>
              <a:prstGeom prst="rect">
                <a:avLst/>
              </a:prstGeom>
              <a:solidFill>
                <a:srgbClr val="CEE8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B677D3C-7B61-4969-83EC-4EBF9A069C8C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4929121"/>
                <a:ext cx="213868" cy="213840"/>
              </a:xfrm>
              <a:prstGeom prst="rect">
                <a:avLst/>
              </a:prstGeom>
              <a:solidFill>
                <a:srgbClr val="9ACBE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2DFBC17-3FC4-4EB1-8297-CBBB91102DCD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6644160"/>
                <a:ext cx="213868" cy="213840"/>
              </a:xfrm>
              <a:prstGeom prst="rect">
                <a:avLst/>
              </a:prstGeom>
              <a:solidFill>
                <a:srgbClr val="34A2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361BE09-9C89-4AA7-A077-F4379CA21300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6644160"/>
                <a:ext cx="213868" cy="213840"/>
              </a:xfrm>
              <a:prstGeom prst="rect">
                <a:avLst/>
              </a:prstGeom>
              <a:solidFill>
                <a:srgbClr val="69BA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167D83C-B7CA-4BE9-85AF-D4D9B732DFEB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6644160"/>
                <a:ext cx="213868" cy="213840"/>
              </a:xfrm>
              <a:prstGeom prst="rect">
                <a:avLst/>
              </a:prstGeom>
              <a:solidFill>
                <a:srgbClr val="9ED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E5D58A7-3E55-4E0B-ABE9-66CB74468E48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6644160"/>
                <a:ext cx="213868" cy="213840"/>
              </a:xfrm>
              <a:prstGeom prst="rect">
                <a:avLst/>
              </a:prstGeom>
              <a:solidFill>
                <a:srgbClr val="D3E9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77BF734-1BEC-4034-AA11-2E7831858D66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5214961"/>
                <a:ext cx="213868" cy="213840"/>
              </a:xfrm>
              <a:prstGeom prst="rect">
                <a:avLst/>
              </a:prstGeom>
              <a:solidFill>
                <a:srgbClr val="8777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D01FEF8C-51BD-4AE6-BC8C-DA671C2980DE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5214961"/>
                <a:ext cx="213868" cy="213840"/>
              </a:xfrm>
              <a:prstGeom prst="rect">
                <a:avLst/>
              </a:prstGeom>
              <a:solidFill>
                <a:srgbClr val="A598C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A577BF-B3BF-4B5F-A4E4-1E9167FBD7E3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5214961"/>
                <a:ext cx="213868" cy="213840"/>
              </a:xfrm>
              <a:prstGeom prst="rect">
                <a:avLst/>
              </a:prstGeom>
              <a:solidFill>
                <a:srgbClr val="C2B9D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347FA54-69BD-4E94-9AFE-D79662DA46A7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5214961"/>
                <a:ext cx="213868" cy="213840"/>
              </a:xfrm>
              <a:prstGeom prst="rect">
                <a:avLst/>
              </a:prstGeom>
              <a:solidFill>
                <a:srgbClr val="E0DA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38D056C-5BBF-47C6-ADD2-CF754C4505CB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6358321"/>
                <a:ext cx="213868" cy="213840"/>
              </a:xfrm>
              <a:prstGeom prst="rect">
                <a:avLst/>
              </a:prstGeom>
              <a:solidFill>
                <a:srgbClr val="78B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2A49E33-62C1-4F4E-B040-D904263FBA4F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6358321"/>
                <a:ext cx="213868" cy="213840"/>
              </a:xfrm>
              <a:prstGeom prst="rect">
                <a:avLst/>
              </a:prstGeom>
              <a:solidFill>
                <a:srgbClr val="98C5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EFC631E-F5CA-4570-96E1-824A1DFF46E3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6358321"/>
                <a:ext cx="213868" cy="213840"/>
              </a:xfrm>
              <a:prstGeom prst="rect">
                <a:avLst/>
              </a:prstGeom>
              <a:solidFill>
                <a:srgbClr val="B7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3E058C5-80A4-4A78-8168-E155B91FE9CF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6358321"/>
                <a:ext cx="213868" cy="213840"/>
              </a:xfrm>
              <a:prstGeom prst="rect">
                <a:avLst/>
              </a:prstGeom>
              <a:solidFill>
                <a:srgbClr val="D9E8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24BA508-30FD-4B18-ABFB-B1CA240427E4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5500801"/>
                <a:ext cx="213868" cy="213840"/>
              </a:xfrm>
              <a:prstGeom prst="rect">
                <a:avLst/>
              </a:prstGeom>
              <a:solidFill>
                <a:srgbClr val="DB48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6F6076B-D99B-42D3-95F8-B09C895D2273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5500801"/>
                <a:ext cx="213868" cy="213840"/>
              </a:xfrm>
              <a:prstGeom prst="rect">
                <a:avLst/>
              </a:prstGeom>
              <a:solidFill>
                <a:srgbClr val="E67C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4E05916-D7A8-4004-B4C3-3E988FBC56DB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5500801"/>
                <a:ext cx="213868" cy="213840"/>
              </a:xfrm>
              <a:prstGeom prst="rect">
                <a:avLst/>
              </a:prstGeom>
              <a:solidFill>
                <a:srgbClr val="F1B0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600BF78-81A5-4FAF-8B99-0B49B921765F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5500801"/>
                <a:ext cx="213868" cy="213840"/>
              </a:xfrm>
              <a:prstGeom prst="rect">
                <a:avLst/>
              </a:prstGeom>
              <a:solidFill>
                <a:srgbClr val="FCE5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C4B8E01-DCFD-408D-B898-F07E6236E620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5786641"/>
                <a:ext cx="213868" cy="213840"/>
              </a:xfrm>
              <a:prstGeom prst="rect">
                <a:avLst/>
              </a:prstGeom>
              <a:solidFill>
                <a:srgbClr val="F6AE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3B01AC7-8FE9-495C-8EC7-C10596CA0E90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5786641"/>
                <a:ext cx="213868" cy="213840"/>
              </a:xfrm>
              <a:prstGeom prst="rect">
                <a:avLst/>
              </a:prstGeom>
              <a:solidFill>
                <a:srgbClr val="F9C16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B01F991-2EDA-40F8-8CC2-DA6C5A751E98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5786641"/>
                <a:ext cx="213868" cy="213840"/>
              </a:xfrm>
              <a:prstGeom prst="rect">
                <a:avLst/>
              </a:prstGeom>
              <a:solidFill>
                <a:srgbClr val="FCD4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C50B529-7D7E-4AC3-A5DB-85711BD84E9D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5786641"/>
                <a:ext cx="213868" cy="213840"/>
              </a:xfrm>
              <a:prstGeom prst="rect">
                <a:avLst/>
              </a:prstGeom>
              <a:solidFill>
                <a:srgbClr val="FFE7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61DCFA-69D5-48A3-B8BD-D605F10CBCF6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6072481"/>
                <a:ext cx="213868" cy="213840"/>
              </a:xfrm>
              <a:prstGeom prst="rect">
                <a:avLst/>
              </a:prstGeom>
              <a:solidFill>
                <a:srgbClr val="FFDD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9B0547F-EACE-475C-8245-354AD1B38298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6072481"/>
                <a:ext cx="213868" cy="213840"/>
              </a:xfrm>
              <a:prstGeom prst="rect">
                <a:avLst/>
              </a:prstGeom>
              <a:solidFill>
                <a:srgbClr val="FFE8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8A34DFE-F254-45D7-BC84-F8D41F1818BF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6072481"/>
                <a:ext cx="213868" cy="213840"/>
              </a:xfrm>
              <a:prstGeom prst="rect">
                <a:avLst/>
              </a:prstGeom>
              <a:solidFill>
                <a:srgbClr val="FFF3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81F4A4E-5A94-4ACD-A1A7-E8E4555A21B4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4643281"/>
                <a:ext cx="213868" cy="21384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b="1" noProof="0" dirty="0">
                  <a:latin typeface="+mn-lt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CCF0ED2-0707-4350-9AE5-1B7046B5C35B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4643281"/>
                <a:ext cx="213868" cy="213840"/>
              </a:xfrm>
              <a:prstGeom prst="rect">
                <a:avLst/>
              </a:prstGeom>
              <a:solidFill>
                <a:srgbClr val="696A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b="1" noProof="0" dirty="0">
                  <a:latin typeface="+mn-lt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89C4821-967F-4E3A-B6E3-1FE938FC06DC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4643281"/>
                <a:ext cx="213868" cy="213840"/>
              </a:xfrm>
              <a:prstGeom prst="rect">
                <a:avLst/>
              </a:prstGeom>
              <a:solidFill>
                <a:srgbClr val="9FA0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E8C7110-E929-45A3-92DD-BCEAD4C66793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275662" y="4643281"/>
                <a:ext cx="213868" cy="213840"/>
              </a:xfrm>
              <a:prstGeom prst="rect">
                <a:avLst/>
              </a:prstGeom>
              <a:solidFill>
                <a:srgbClr val="D0D1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FF72B14-CC83-4472-8924-16F53C9F8D67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3563700" y="4643281"/>
                <a:ext cx="213868" cy="213840"/>
              </a:xfrm>
              <a:prstGeom prst="rect">
                <a:avLst/>
              </a:prstGeom>
              <a:solidFill>
                <a:srgbClr val="EDED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EA00A132-09AB-4844-BA25-E15F6B4BCE5E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412996" y="4357441"/>
                <a:ext cx="213868" cy="213840"/>
              </a:xfrm>
              <a:prstGeom prst="rect">
                <a:avLst/>
              </a:prstGeom>
              <a:solidFill>
                <a:srgbClr val="003A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b="1" noProof="0" dirty="0">
                  <a:latin typeface="+mn-lt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FB96B60A-B8E3-4B4E-97E1-7538983068D5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699587" y="4357441"/>
                <a:ext cx="213868" cy="213840"/>
              </a:xfrm>
              <a:prstGeom prst="rect">
                <a:avLst/>
              </a:prstGeom>
              <a:solidFill>
                <a:srgbClr val="90C4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2C1448B-02A7-41D0-BBCE-97B424C33E21}"/>
                  </a:ext>
                </a:extLst>
              </p:cNvPr>
              <p:cNvSpPr>
                <a:spLocks noChangeAspect="1"/>
              </p:cNvSpPr>
              <p:nvPr userDrawn="1"/>
            </p:nvSpPr>
            <p:spPr bwMode="gray">
              <a:xfrm>
                <a:off x="12987625" y="4357441"/>
                <a:ext cx="213868" cy="213840"/>
              </a:xfrm>
              <a:prstGeom prst="rect">
                <a:avLst/>
              </a:prstGeom>
              <a:solidFill>
                <a:srgbClr val="D0D1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en-US" sz="1800" noProof="0" dirty="0">
                  <a:solidFill>
                    <a:schemeClr val="tx1"/>
                  </a:solidFill>
                  <a:latin typeface="+mn-lt"/>
                </a:endParaRPr>
              </a:p>
            </p:txBody>
          </p:sp>
        </p:grpSp>
        <p:grpSp>
          <p:nvGrpSpPr>
            <p:cNvPr id="3" name="IEM">
              <a:extLst>
                <a:ext uri="{FF2B5EF4-FFF2-40B4-BE49-F238E27FC236}">
                  <a16:creationId xmlns:a16="http://schemas.microsoft.com/office/drawing/2014/main" id="{94A5BE77-AE9B-4653-B68C-2EFF81B1F038}"/>
                </a:ext>
              </a:extLst>
            </p:cNvPr>
            <p:cNvGrpSpPr/>
            <p:nvPr userDrawn="1"/>
          </p:nvGrpSpPr>
          <p:grpSpPr bwMode="gray">
            <a:xfrm>
              <a:off x="12407215" y="756794"/>
              <a:ext cx="1372513" cy="3059853"/>
              <a:chOff x="12407215" y="756794"/>
              <a:chExt cx="1372513" cy="3059853"/>
            </a:xfrm>
          </p:grpSpPr>
          <p:sp>
            <p:nvSpPr>
              <p:cNvPr id="90" name="AutoShape 3">
                <a:extLst>
                  <a:ext uri="{FF2B5EF4-FFF2-40B4-BE49-F238E27FC236}">
                    <a16:creationId xmlns:a16="http://schemas.microsoft.com/office/drawing/2014/main" id="{B9B67661-D722-471F-80C6-AB82C8090AD9}"/>
                  </a:ext>
                </a:extLst>
              </p:cNvPr>
              <p:cNvSpPr>
                <a:spLocks noChangeAspect="1" noChangeArrowheads="1" noTextEdit="1"/>
              </p:cNvSpPr>
              <p:nvPr userDrawn="1"/>
            </p:nvSpPr>
            <p:spPr bwMode="gray">
              <a:xfrm>
                <a:off x="12407215" y="977775"/>
                <a:ext cx="216028" cy="445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1" name="Rectangle 5">
                <a:extLst>
                  <a:ext uri="{FF2B5EF4-FFF2-40B4-BE49-F238E27FC236}">
                    <a16:creationId xmlns:a16="http://schemas.microsoft.com/office/drawing/2014/main" id="{73C6F773-D358-4DB5-9766-DD5D11A79561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1550" y="993594"/>
                <a:ext cx="216028" cy="216000"/>
              </a:xfrm>
              <a:prstGeom prst="rect">
                <a:avLst/>
              </a:prstGeom>
              <a:solidFill>
                <a:srgbClr val="D4E6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2" name="Rectangle 6">
                <a:extLst>
                  <a:ext uri="{FF2B5EF4-FFF2-40B4-BE49-F238E27FC236}">
                    <a16:creationId xmlns:a16="http://schemas.microsoft.com/office/drawing/2014/main" id="{3473F3B9-0DA3-423B-B310-57C2AF870650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1550" y="1281594"/>
                <a:ext cx="216028" cy="216000"/>
              </a:xfrm>
              <a:prstGeom prst="rect">
                <a:avLst/>
              </a:prstGeom>
              <a:solidFill>
                <a:srgbClr val="C7C1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3" name="Rectangle 7">
                <a:extLst>
                  <a:ext uri="{FF2B5EF4-FFF2-40B4-BE49-F238E27FC236}">
                    <a16:creationId xmlns:a16="http://schemas.microsoft.com/office/drawing/2014/main" id="{B54A30B1-7CEC-4805-8359-EEE4DD3CFE7D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1550" y="3599168"/>
                <a:ext cx="216028" cy="217479"/>
              </a:xfrm>
              <a:prstGeom prst="rect">
                <a:avLst/>
              </a:prstGeom>
              <a:solidFill>
                <a:srgbClr val="C7CA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4" name="Rectangle 8">
                <a:extLst>
                  <a:ext uri="{FF2B5EF4-FFF2-40B4-BE49-F238E27FC236}">
                    <a16:creationId xmlns:a16="http://schemas.microsoft.com/office/drawing/2014/main" id="{B4C94FBA-8B8C-4FC1-A12B-2E63BAED963C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563700" y="2447168"/>
                <a:ext cx="216028" cy="216000"/>
              </a:xfrm>
              <a:prstGeom prst="rect">
                <a:avLst/>
              </a:prstGeom>
              <a:solidFill>
                <a:srgbClr val="6A73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5" name="Rectangle 9">
                <a:extLst>
                  <a:ext uri="{FF2B5EF4-FFF2-40B4-BE49-F238E27FC236}">
                    <a16:creationId xmlns:a16="http://schemas.microsoft.com/office/drawing/2014/main" id="{39E27AB1-195E-4994-A990-DBB3A955DDBE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993594"/>
                <a:ext cx="216028" cy="216000"/>
              </a:xfrm>
              <a:prstGeom prst="rect">
                <a:avLst/>
              </a:prstGeom>
              <a:solidFill>
                <a:srgbClr val="88BC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6" name="Rectangle 10">
                <a:extLst>
                  <a:ext uri="{FF2B5EF4-FFF2-40B4-BE49-F238E27FC236}">
                    <a16:creationId xmlns:a16="http://schemas.microsoft.com/office/drawing/2014/main" id="{87A9A038-1C92-4176-905E-8BF5F6D303BB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3023168"/>
                <a:ext cx="216028" cy="216000"/>
              </a:xfrm>
              <a:prstGeom prst="rect">
                <a:avLst/>
              </a:prstGeom>
              <a:solidFill>
                <a:srgbClr val="4C63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7" name="Rectangle 11">
                <a:extLst>
                  <a:ext uri="{FF2B5EF4-FFF2-40B4-BE49-F238E27FC236}">
                    <a16:creationId xmlns:a16="http://schemas.microsoft.com/office/drawing/2014/main" id="{33AD9457-AB23-4A27-8DEC-DD677D1E62DF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1550" y="3311168"/>
                <a:ext cx="216028" cy="216000"/>
              </a:xfrm>
              <a:prstGeom prst="rect">
                <a:avLst/>
              </a:prstGeom>
              <a:solidFill>
                <a:srgbClr val="33B8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8" name="Rectangle 12">
                <a:extLst>
                  <a:ext uri="{FF2B5EF4-FFF2-40B4-BE49-F238E27FC236}">
                    <a16:creationId xmlns:a16="http://schemas.microsoft.com/office/drawing/2014/main" id="{968CBD10-74C9-455D-93F8-7F5E4E978DFE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3311168"/>
                <a:ext cx="216028" cy="216000"/>
              </a:xfrm>
              <a:prstGeom prst="rect">
                <a:avLst/>
              </a:prstGeom>
              <a:solidFill>
                <a:srgbClr val="25B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99" name="Rectangle 13">
                <a:extLst>
                  <a:ext uri="{FF2B5EF4-FFF2-40B4-BE49-F238E27FC236}">
                    <a16:creationId xmlns:a16="http://schemas.microsoft.com/office/drawing/2014/main" id="{3AFB792C-BAE1-41C7-8822-778E4A769EF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2144768"/>
                <a:ext cx="216028" cy="216000"/>
              </a:xfrm>
              <a:prstGeom prst="rect">
                <a:avLst/>
              </a:prstGeom>
              <a:solidFill>
                <a:srgbClr val="FFD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0" name="Rectangle 14">
                <a:extLst>
                  <a:ext uri="{FF2B5EF4-FFF2-40B4-BE49-F238E27FC236}">
                    <a16:creationId xmlns:a16="http://schemas.microsoft.com/office/drawing/2014/main" id="{AB9CC1D4-9550-41E0-9493-F9113F87E7F8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1567289"/>
                <a:ext cx="216028" cy="216000"/>
              </a:xfrm>
              <a:prstGeom prst="rect">
                <a:avLst/>
              </a:prstGeom>
              <a:solidFill>
                <a:srgbClr val="E200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1" name="Rectangle 15">
                <a:extLst>
                  <a:ext uri="{FF2B5EF4-FFF2-40B4-BE49-F238E27FC236}">
                    <a16:creationId xmlns:a16="http://schemas.microsoft.com/office/drawing/2014/main" id="{B90040C7-6AD8-4759-B958-6DEC1C391545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1855289"/>
                <a:ext cx="216028" cy="217479"/>
              </a:xfrm>
              <a:prstGeom prst="rect">
                <a:avLst/>
              </a:prstGeom>
              <a:solidFill>
                <a:srgbClr val="F29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2" name="Rectangle 16">
                <a:extLst>
                  <a:ext uri="{FF2B5EF4-FFF2-40B4-BE49-F238E27FC236}">
                    <a16:creationId xmlns:a16="http://schemas.microsoft.com/office/drawing/2014/main" id="{6936991A-1E58-436F-AA02-787C9332858D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2447168"/>
                <a:ext cx="216028" cy="216000"/>
              </a:xfrm>
              <a:prstGeom prst="rect">
                <a:avLst/>
              </a:prstGeom>
              <a:solidFill>
                <a:srgbClr val="B1C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3" name="Rectangle 17">
                <a:extLst>
                  <a:ext uri="{FF2B5EF4-FFF2-40B4-BE49-F238E27FC236}">
                    <a16:creationId xmlns:a16="http://schemas.microsoft.com/office/drawing/2014/main" id="{33126881-9970-4146-B1ED-666B63C0523D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1281594"/>
                <a:ext cx="216028" cy="216000"/>
              </a:xfrm>
              <a:prstGeom prst="rect">
                <a:avLst/>
              </a:prstGeom>
              <a:solidFill>
                <a:srgbClr val="3937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4" name="Rectangle 18">
                <a:extLst>
                  <a:ext uri="{FF2B5EF4-FFF2-40B4-BE49-F238E27FC236}">
                    <a16:creationId xmlns:a16="http://schemas.microsoft.com/office/drawing/2014/main" id="{CFC988D3-7752-4C05-8822-E5010F924B49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2735168"/>
                <a:ext cx="216028" cy="216000"/>
              </a:xfrm>
              <a:prstGeom prst="rect">
                <a:avLst/>
              </a:prstGeom>
              <a:solidFill>
                <a:srgbClr val="179C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5" name="Rectangle 19">
                <a:extLst>
                  <a:ext uri="{FF2B5EF4-FFF2-40B4-BE49-F238E27FC236}">
                    <a16:creationId xmlns:a16="http://schemas.microsoft.com/office/drawing/2014/main" id="{CAC419BD-91FA-45A9-B04A-114D380E48FC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993594"/>
                <a:ext cx="216028" cy="216000"/>
              </a:xfrm>
              <a:prstGeom prst="rect">
                <a:avLst/>
              </a:prstGeom>
              <a:solidFill>
                <a:srgbClr val="1F82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6" name="Rectangle 20">
                <a:extLst>
                  <a:ext uri="{FF2B5EF4-FFF2-40B4-BE49-F238E27FC236}">
                    <a16:creationId xmlns:a16="http://schemas.microsoft.com/office/drawing/2014/main" id="{E8CE249C-61E3-403B-B376-9F4F12084B3C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2144768"/>
                <a:ext cx="216028" cy="214531"/>
              </a:xfrm>
              <a:prstGeom prst="rect">
                <a:avLst/>
              </a:prstGeom>
              <a:solidFill>
                <a:srgbClr val="FFF3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7" name="Rectangle 21">
                <a:extLst>
                  <a:ext uri="{FF2B5EF4-FFF2-40B4-BE49-F238E27FC236}">
                    <a16:creationId xmlns:a16="http://schemas.microsoft.com/office/drawing/2014/main" id="{9037C4E2-C737-4973-A78D-7BA8098C185B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1855289"/>
                <a:ext cx="216028" cy="216000"/>
              </a:xfrm>
              <a:prstGeom prst="rect">
                <a:avLst/>
              </a:prstGeom>
              <a:solidFill>
                <a:srgbClr val="FBCB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8" name="Rectangle 22">
                <a:extLst>
                  <a:ext uri="{FF2B5EF4-FFF2-40B4-BE49-F238E27FC236}">
                    <a16:creationId xmlns:a16="http://schemas.microsoft.com/office/drawing/2014/main" id="{8A28627A-55C8-457F-94F8-A2AA5FF1EF6A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2447168"/>
                <a:ext cx="216028" cy="216000"/>
              </a:xfrm>
              <a:prstGeom prst="rect">
                <a:avLst/>
              </a:prstGeom>
              <a:solidFill>
                <a:srgbClr val="D1DD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09" name="Rectangle 23">
                <a:extLst>
                  <a:ext uri="{FF2B5EF4-FFF2-40B4-BE49-F238E27FC236}">
                    <a16:creationId xmlns:a16="http://schemas.microsoft.com/office/drawing/2014/main" id="{3B43C15F-704D-4AA0-92EA-5BFEBCA07AEE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1281594"/>
                <a:ext cx="216028" cy="216000"/>
              </a:xfrm>
              <a:prstGeom prst="rect">
                <a:avLst/>
              </a:prstGeom>
              <a:solidFill>
                <a:srgbClr val="9085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0" name="Rectangle 24">
                <a:extLst>
                  <a:ext uri="{FF2B5EF4-FFF2-40B4-BE49-F238E27FC236}">
                    <a16:creationId xmlns:a16="http://schemas.microsoft.com/office/drawing/2014/main" id="{3DCA6882-FF7A-4FBE-B585-3B3704D2D1C9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4439" y="2144768"/>
                <a:ext cx="216028" cy="216000"/>
              </a:xfrm>
              <a:prstGeom prst="rect">
                <a:avLst/>
              </a:prstGeom>
              <a:solidFill>
                <a:srgbClr val="FFFA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1" name="Rectangle 25">
                <a:extLst>
                  <a:ext uri="{FF2B5EF4-FFF2-40B4-BE49-F238E27FC236}">
                    <a16:creationId xmlns:a16="http://schemas.microsoft.com/office/drawing/2014/main" id="{FB64DB54-2CD6-4BE0-BC0D-3401F70EEA58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4439" y="1855289"/>
                <a:ext cx="216028" cy="217479"/>
              </a:xfrm>
              <a:prstGeom prst="rect">
                <a:avLst/>
              </a:prstGeom>
              <a:solidFill>
                <a:srgbClr val="FEEA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2" name="Rectangle 26">
                <a:extLst>
                  <a:ext uri="{FF2B5EF4-FFF2-40B4-BE49-F238E27FC236}">
                    <a16:creationId xmlns:a16="http://schemas.microsoft.com/office/drawing/2014/main" id="{556B99EB-6F2B-4C1C-BA61-ED64C18DCDF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2995" y="3023168"/>
                <a:ext cx="216028" cy="216000"/>
              </a:xfrm>
              <a:prstGeom prst="rect">
                <a:avLst/>
              </a:prstGeom>
              <a:solidFill>
                <a:srgbClr val="D7E1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3" name="Rectangle 27">
                <a:extLst>
                  <a:ext uri="{FF2B5EF4-FFF2-40B4-BE49-F238E27FC236}">
                    <a16:creationId xmlns:a16="http://schemas.microsoft.com/office/drawing/2014/main" id="{DB869FF0-E384-4B22-9910-1765E9B054B3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2144768"/>
                <a:ext cx="216028" cy="214531"/>
              </a:xfrm>
              <a:prstGeom prst="rect">
                <a:avLst/>
              </a:prstGeom>
              <a:solidFill>
                <a:srgbClr val="FDC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4" name="Rectangle 28">
                <a:extLst>
                  <a:ext uri="{FF2B5EF4-FFF2-40B4-BE49-F238E27FC236}">
                    <a16:creationId xmlns:a16="http://schemas.microsoft.com/office/drawing/2014/main" id="{40A7C8EA-F987-4CC3-819C-FA0E1C59EFF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1565810"/>
                <a:ext cx="216028" cy="217479"/>
              </a:xfrm>
              <a:prstGeom prst="rect">
                <a:avLst/>
              </a:prstGeom>
              <a:solidFill>
                <a:srgbClr val="9E1C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5" name="Rectangle 29">
                <a:extLst>
                  <a:ext uri="{FF2B5EF4-FFF2-40B4-BE49-F238E27FC236}">
                    <a16:creationId xmlns:a16="http://schemas.microsoft.com/office/drawing/2014/main" id="{B743335C-2D09-4356-B85E-A97618384677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1855289"/>
                <a:ext cx="216028" cy="216000"/>
              </a:xfrm>
              <a:prstGeom prst="rect">
                <a:avLst/>
              </a:prstGeom>
              <a:solidFill>
                <a:srgbClr val="EB6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6" name="Rectangle 30">
                <a:extLst>
                  <a:ext uri="{FF2B5EF4-FFF2-40B4-BE49-F238E27FC236}">
                    <a16:creationId xmlns:a16="http://schemas.microsoft.com/office/drawing/2014/main" id="{BE85F75C-5E7F-4A9E-8678-5C6ABE0EC5F7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2447168"/>
                <a:ext cx="216028" cy="216000"/>
              </a:xfrm>
              <a:prstGeom prst="rect">
                <a:avLst/>
              </a:prstGeom>
              <a:solidFill>
                <a:srgbClr val="8FA4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7" name="Rectangle 31">
                <a:extLst>
                  <a:ext uri="{FF2B5EF4-FFF2-40B4-BE49-F238E27FC236}">
                    <a16:creationId xmlns:a16="http://schemas.microsoft.com/office/drawing/2014/main" id="{91125983-AEAE-443D-B190-2BB5C2E3AB7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993594"/>
                <a:ext cx="216028" cy="216000"/>
              </a:xfrm>
              <a:prstGeom prst="rect">
                <a:avLst/>
              </a:prstGeom>
              <a:solidFill>
                <a:srgbClr val="005A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8" name="Rectangle 32">
                <a:extLst>
                  <a:ext uri="{FF2B5EF4-FFF2-40B4-BE49-F238E27FC236}">
                    <a16:creationId xmlns:a16="http://schemas.microsoft.com/office/drawing/2014/main" id="{CAEA9A3C-6F7C-4F20-A938-14ABECBD6539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563700" y="1567289"/>
                <a:ext cx="216028" cy="216000"/>
              </a:xfrm>
              <a:prstGeom prst="rect">
                <a:avLst/>
              </a:prstGeom>
              <a:solidFill>
                <a:srgbClr val="771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19" name="Rectangle 33">
                <a:extLst>
                  <a:ext uri="{FF2B5EF4-FFF2-40B4-BE49-F238E27FC236}">
                    <a16:creationId xmlns:a16="http://schemas.microsoft.com/office/drawing/2014/main" id="{0E874DD1-CE1D-46DB-A4D2-2FDD4DD3E650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275662" y="1281594"/>
                <a:ext cx="216028" cy="216000"/>
              </a:xfrm>
              <a:prstGeom prst="rect">
                <a:avLst/>
              </a:prstGeom>
              <a:solidFill>
                <a:srgbClr val="29286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0" name="Rectangle 34">
                <a:extLst>
                  <a:ext uri="{FF2B5EF4-FFF2-40B4-BE49-F238E27FC236}">
                    <a16:creationId xmlns:a16="http://schemas.microsoft.com/office/drawing/2014/main" id="{2241B987-F739-4E6E-9CC0-24D8797D04D2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3563700" y="993594"/>
                <a:ext cx="216028" cy="216000"/>
              </a:xfrm>
              <a:prstGeom prst="rect">
                <a:avLst/>
              </a:prstGeom>
              <a:solidFill>
                <a:srgbClr val="0034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1" name="Rectangle 35">
                <a:extLst>
                  <a:ext uri="{FF2B5EF4-FFF2-40B4-BE49-F238E27FC236}">
                    <a16:creationId xmlns:a16="http://schemas.microsoft.com/office/drawing/2014/main" id="{946B81AE-036E-4CCD-BD3F-2C2BF1A46380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3023168"/>
                <a:ext cx="216028" cy="216000"/>
              </a:xfrm>
              <a:prstGeom prst="rect">
                <a:avLst/>
              </a:prstGeom>
              <a:solidFill>
                <a:srgbClr val="4629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2" name="Rectangle 36">
                <a:extLst>
                  <a:ext uri="{FF2B5EF4-FFF2-40B4-BE49-F238E27FC236}">
                    <a16:creationId xmlns:a16="http://schemas.microsoft.com/office/drawing/2014/main" id="{1949303B-5009-43FB-A0B2-A553BB35A665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3023168"/>
                <a:ext cx="216028" cy="216000"/>
              </a:xfrm>
              <a:prstGeom prst="rect">
                <a:avLst/>
              </a:prstGeom>
              <a:solidFill>
                <a:srgbClr val="CBAF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3" name="Rectangle 37">
                <a:extLst>
                  <a:ext uri="{FF2B5EF4-FFF2-40B4-BE49-F238E27FC236}">
                    <a16:creationId xmlns:a16="http://schemas.microsoft.com/office/drawing/2014/main" id="{178EF350-D42F-48D3-B8C2-97DFA645821F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2995" y="2447168"/>
                <a:ext cx="216028" cy="216000"/>
              </a:xfrm>
              <a:prstGeom prst="rect">
                <a:avLst/>
              </a:prstGeom>
              <a:solidFill>
                <a:srgbClr val="EEEF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4" name="Rectangle 38">
                <a:extLst>
                  <a:ext uri="{FF2B5EF4-FFF2-40B4-BE49-F238E27FC236}">
                    <a16:creationId xmlns:a16="http://schemas.microsoft.com/office/drawing/2014/main" id="{944A3A09-2838-4005-8541-99F67B080E36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987625" y="3311168"/>
                <a:ext cx="216028" cy="216000"/>
              </a:xfrm>
              <a:prstGeom prst="rect">
                <a:avLst/>
              </a:prstGeom>
              <a:solidFill>
                <a:srgbClr val="006E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5" name="Rectangle 39">
                <a:extLst>
                  <a:ext uri="{FF2B5EF4-FFF2-40B4-BE49-F238E27FC236}">
                    <a16:creationId xmlns:a16="http://schemas.microsoft.com/office/drawing/2014/main" id="{05A39816-59D5-4ED3-A5DB-C28F8BDAA74D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699587" y="2735168"/>
                <a:ext cx="216028" cy="216000"/>
              </a:xfrm>
              <a:prstGeom prst="rect">
                <a:avLst/>
              </a:prstGeom>
              <a:solidFill>
                <a:srgbClr val="6DBF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6" name="Rectangle 40">
                <a:extLst>
                  <a:ext uri="{FF2B5EF4-FFF2-40B4-BE49-F238E27FC236}">
                    <a16:creationId xmlns:a16="http://schemas.microsoft.com/office/drawing/2014/main" id="{90EA7E93-D3B8-499B-A4E5-915630EB3720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2995" y="2735168"/>
                <a:ext cx="216028" cy="216000"/>
              </a:xfrm>
              <a:prstGeom prst="rect">
                <a:avLst/>
              </a:prstGeom>
              <a:solidFill>
                <a:srgbClr val="B4DC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noProof="0" dirty="0">
                  <a:latin typeface="+mn-lt"/>
                </a:endParaRPr>
              </a:p>
            </p:txBody>
          </p:sp>
          <p:sp>
            <p:nvSpPr>
              <p:cNvPr id="127" name="Text 126">
                <a:extLst>
                  <a:ext uri="{FF2B5EF4-FFF2-40B4-BE49-F238E27FC236}">
                    <a16:creationId xmlns:a16="http://schemas.microsoft.com/office/drawing/2014/main" id="{6563700E-4967-4414-BCB8-0F00C1DF75BD}"/>
                  </a:ext>
                </a:extLst>
              </p:cNvPr>
              <p:cNvSpPr txBox="1"/>
              <p:nvPr userDrawn="1"/>
            </p:nvSpPr>
            <p:spPr bwMode="gray">
              <a:xfrm>
                <a:off x="12411551" y="756794"/>
                <a:ext cx="282229" cy="10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pPr>
                  <a:tabLst>
                    <a:tab pos="177818" algn="l"/>
                  </a:tabLst>
                </a:pPr>
                <a:r>
                  <a:rPr lang="en-US" sz="1000" b="1" noProof="0" dirty="0">
                    <a:latin typeface="+mn-lt"/>
                    <a:cs typeface="Arial" panose="020B0604020202020204" pitchFamily="34" charset="0"/>
                  </a:rPr>
                  <a:t>IEM</a:t>
                </a:r>
              </a:p>
            </p:txBody>
          </p:sp>
          <p:cxnSp>
            <p:nvCxnSpPr>
              <p:cNvPr id="128" name="Straight connector">
                <a:extLst>
                  <a:ext uri="{FF2B5EF4-FFF2-40B4-BE49-F238E27FC236}">
                    <a16:creationId xmlns:a16="http://schemas.microsoft.com/office/drawing/2014/main" id="{65C4E094-81EB-4483-909C-8E976C7A3E9F}"/>
                  </a:ext>
                </a:extLst>
              </p:cNvPr>
              <p:cNvCxnSpPr/>
              <p:nvPr userDrawn="1"/>
            </p:nvCxnSpPr>
            <p:spPr bwMode="gray">
              <a:xfrm>
                <a:off x="12411551" y="921594"/>
                <a:ext cx="135390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HNI/IEM">
              <a:extLst>
                <a:ext uri="{FF2B5EF4-FFF2-40B4-BE49-F238E27FC236}">
                  <a16:creationId xmlns:a16="http://schemas.microsoft.com/office/drawing/2014/main" id="{9812935C-F5E5-4778-A328-17D1DD6AE532}"/>
                </a:ext>
              </a:extLst>
            </p:cNvPr>
            <p:cNvGrpSpPr/>
            <p:nvPr userDrawn="1"/>
          </p:nvGrpSpPr>
          <p:grpSpPr bwMode="gray">
            <a:xfrm>
              <a:off x="12411550" y="0"/>
              <a:ext cx="1353905" cy="452801"/>
              <a:chOff x="12411550" y="0"/>
              <a:chExt cx="1353905" cy="452801"/>
            </a:xfrm>
          </p:grpSpPr>
          <p:sp>
            <p:nvSpPr>
              <p:cNvPr id="129" name="Rectangle 5">
                <a:extLst>
                  <a:ext uri="{FF2B5EF4-FFF2-40B4-BE49-F238E27FC236}">
                    <a16:creationId xmlns:a16="http://schemas.microsoft.com/office/drawing/2014/main" id="{D6AEEAF9-4636-4912-BB8D-EA0D5A60CC74}"/>
                  </a:ext>
                </a:extLst>
              </p:cNvPr>
              <p:cNvSpPr>
                <a:spLocks noChangeAspect="1" noChangeArrowheads="1"/>
              </p:cNvSpPr>
              <p:nvPr userDrawn="1"/>
            </p:nvSpPr>
            <p:spPr bwMode="gray">
              <a:xfrm>
                <a:off x="12411550" y="236801"/>
                <a:ext cx="216028" cy="216000"/>
              </a:xfrm>
              <a:prstGeom prst="rect">
                <a:avLst/>
              </a:prstGeom>
              <a:gradFill flip="none" rotWithShape="1">
                <a:gsLst>
                  <a:gs pos="80000">
                    <a:schemeClr val="accent1"/>
                  </a:gs>
                  <a:gs pos="5000">
                    <a:schemeClr val="tx2"/>
                  </a:gs>
                </a:gsLst>
                <a:lin ang="2400000" scaled="0"/>
                <a:tileRect/>
              </a:gradFill>
              <a:ln w="25400" cap="flat" cmpd="sng" algn="ctr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accent1"/>
                  </a:buClr>
                  <a:buFont typeface="Wingdings" panose="05000000000000000000" pitchFamily="2" charset="2"/>
                  <a:buNone/>
                </a:pPr>
                <a:endParaRPr lang="en-US" sz="1600" b="1" cap="none" baseline="0" noProof="0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30" name="Text 129">
                <a:extLst>
                  <a:ext uri="{FF2B5EF4-FFF2-40B4-BE49-F238E27FC236}">
                    <a16:creationId xmlns:a16="http://schemas.microsoft.com/office/drawing/2014/main" id="{2D948929-BB04-4074-A118-23597310D8D8}"/>
                  </a:ext>
                </a:extLst>
              </p:cNvPr>
              <p:cNvSpPr txBox="1"/>
              <p:nvPr userDrawn="1"/>
            </p:nvSpPr>
            <p:spPr bwMode="gray">
              <a:xfrm>
                <a:off x="12411551" y="0"/>
                <a:ext cx="282229" cy="10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noAutofit/>
              </a:bodyPr>
              <a:lstStyle/>
              <a:p>
                <a:r>
                  <a:rPr lang="en-US" sz="1000" b="1" noProof="0" dirty="0">
                    <a:latin typeface="+mn-lt"/>
                    <a:cs typeface="Arial" panose="020B0604020202020204" pitchFamily="34" charset="0"/>
                  </a:rPr>
                  <a:t>HNI / IEM</a:t>
                </a:r>
              </a:p>
            </p:txBody>
          </p:sp>
          <p:cxnSp>
            <p:nvCxnSpPr>
              <p:cNvPr id="131" name="Straight connector">
                <a:extLst>
                  <a:ext uri="{FF2B5EF4-FFF2-40B4-BE49-F238E27FC236}">
                    <a16:creationId xmlns:a16="http://schemas.microsoft.com/office/drawing/2014/main" id="{E2CDAEAA-A7FB-4393-9313-CF81A4E9A31A}"/>
                  </a:ext>
                </a:extLst>
              </p:cNvPr>
              <p:cNvCxnSpPr/>
              <p:nvPr userDrawn="1"/>
            </p:nvCxnSpPr>
            <p:spPr bwMode="gray">
              <a:xfrm>
                <a:off x="12411551" y="164800"/>
                <a:ext cx="135390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pic>
        <p:nvPicPr>
          <p:cNvPr id="28" name="LOGO Fraunhofer">
            <a:extLst>
              <a:ext uri="{FF2B5EF4-FFF2-40B4-BE49-F238E27FC236}">
                <a16:creationId xmlns:a16="http://schemas.microsoft.com/office/drawing/2014/main" id="{0E233FC5-735C-4E0E-A7BB-34F0CF5FF96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 bwMode="gray">
          <a:xfrm>
            <a:off x="10221731" y="6339600"/>
            <a:ext cx="1429386" cy="388742"/>
          </a:xfrm>
          <a:prstGeom prst="rect">
            <a:avLst/>
          </a:prstGeom>
        </p:spPr>
      </p:pic>
      <p:pic>
        <p:nvPicPr>
          <p:cNvPr id="29" name="LOGO Heinz Nixdorf Institute" descr="Ein Bild, das Teller, Zeichnung, Schild enthält.&#10;&#10;Automatisch generierte Beschreibung">
            <a:extLst>
              <a:ext uri="{FF2B5EF4-FFF2-40B4-BE49-F238E27FC236}">
                <a16:creationId xmlns:a16="http://schemas.microsoft.com/office/drawing/2014/main" id="{240B098B-3FEC-4E2B-9434-8F54E44D7FD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 bwMode="gray">
          <a:xfrm>
            <a:off x="8371090" y="6415200"/>
            <a:ext cx="1490594" cy="233161"/>
          </a:xfrm>
          <a:prstGeom prst="rect">
            <a:avLst/>
          </a:prstGeom>
        </p:spPr>
      </p:pic>
      <p:sp>
        <p:nvSpPr>
          <p:cNvPr id="31" name="Title">
            <a:extLst>
              <a:ext uri="{FF2B5EF4-FFF2-40B4-BE49-F238E27FC236}">
                <a16:creationId xmlns:a16="http://schemas.microsoft.com/office/drawing/2014/main" id="{2AA5203B-4B95-44A1-BC58-7FCDFD00BFD8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gray">
          <a:xfrm>
            <a:off x="540476" y="432000"/>
            <a:ext cx="11111046" cy="39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Add title by clicking</a:t>
            </a:r>
          </a:p>
        </p:txBody>
      </p:sp>
      <p:sp>
        <p:nvSpPr>
          <p:cNvPr id="134" name="Content">
            <a:extLst>
              <a:ext uri="{FF2B5EF4-FFF2-40B4-BE49-F238E27FC236}">
                <a16:creationId xmlns:a16="http://schemas.microsoft.com/office/drawing/2014/main" id="{05B0D45E-F7F9-4A2D-BCC0-8EEA3BC82A37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gray">
          <a:xfrm>
            <a:off x="540070" y="1512000"/>
            <a:ext cx="11111046" cy="469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Add text by clicking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2" name="Footer">
            <a:extLst>
              <a:ext uri="{FF2B5EF4-FFF2-40B4-BE49-F238E27FC236}">
                <a16:creationId xmlns:a16="http://schemas.microsoft.com/office/drawing/2014/main" id="{52BBC6BF-E9B2-4A1D-87CE-0893F60235E9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 bwMode="gray">
          <a:xfrm>
            <a:off x="1126821" y="6390000"/>
            <a:ext cx="4969177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© Heinz Nixdorf </a:t>
            </a:r>
            <a:r>
              <a:rPr lang="en-US" noProof="1"/>
              <a:t>Institute</a:t>
            </a:r>
            <a:r>
              <a:rPr lang="en-US" dirty="0"/>
              <a:t> / Fraunhofer IEM</a:t>
            </a:r>
            <a:endParaRPr lang="en-US" noProof="0" dirty="0"/>
          </a:p>
        </p:txBody>
      </p:sp>
      <p:sp>
        <p:nvSpPr>
          <p:cNvPr id="135" name="Line">
            <a:extLst>
              <a:ext uri="{FF2B5EF4-FFF2-40B4-BE49-F238E27FC236}">
                <a16:creationId xmlns:a16="http://schemas.microsoft.com/office/drawing/2014/main" id="{AE6600B5-3BE4-46FA-B296-A8D8AB919C0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941460" y="6426000"/>
            <a:ext cx="7200" cy="21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133" name="Slide numbr">
            <a:extLst>
              <a:ext uri="{FF2B5EF4-FFF2-40B4-BE49-F238E27FC236}">
                <a16:creationId xmlns:a16="http://schemas.microsoft.com/office/drawing/2014/main" id="{97B6D787-ADA0-42D5-B319-E8E75FAA2B2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540070" y="6390000"/>
            <a:ext cx="226830" cy="2880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5685BD5-7F70-499C-8F04-1460C72EE5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6" name="Fußzeile">
            <a:extLst>
              <a:ext uri="{FF2B5EF4-FFF2-40B4-BE49-F238E27FC236}">
                <a16:creationId xmlns:a16="http://schemas.microsoft.com/office/drawing/2014/main" id="{0409A02E-45BD-4B0C-B258-80F6D34DAA2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074393" y="6414481"/>
            <a:ext cx="3887133" cy="2635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intern</a:t>
            </a:r>
          </a:p>
        </p:txBody>
      </p:sp>
    </p:spTree>
    <p:extLst>
      <p:ext uri="{BB962C8B-B14F-4D97-AF65-F5344CB8AC3E}">
        <p14:creationId xmlns:p14="http://schemas.microsoft.com/office/powerpoint/2010/main" val="43244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96" r:id="rId8"/>
    <p:sldLayoutId id="2147483664" r:id="rId9"/>
    <p:sldLayoutId id="2147483665" r:id="rId10"/>
    <p:sldLayoutId id="2147483694" r:id="rId11"/>
    <p:sldLayoutId id="2147483695" r:id="rId12"/>
    <p:sldLayoutId id="2147483681" r:id="rId13"/>
    <p:sldLayoutId id="2147483692" r:id="rId14"/>
    <p:sldLayoutId id="2147483693" r:id="rId15"/>
    <p:sldLayoutId id="2147483686" r:id="rId16"/>
    <p:sldLayoutId id="2147483687" r:id="rId17"/>
    <p:sldLayoutId id="2147483688" r:id="rId18"/>
    <p:sldLayoutId id="2147483690" r:id="rId19"/>
    <p:sldLayoutId id="2147483691" r:id="rId20"/>
    <p:sldLayoutId id="2147483675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2559" userDrawn="1">
          <p15:clr>
            <a:srgbClr val="A4A3A4"/>
          </p15:clr>
        </p15:guide>
        <p15:guide id="3" pos="5121" userDrawn="1">
          <p15:clr>
            <a:srgbClr val="A4A3A4"/>
          </p15:clr>
        </p15:guide>
        <p15:guide id="5" pos="7339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  <p15:guide id="9" orient="horz" pos="952" userDrawn="1">
          <p15:clr>
            <a:srgbClr val="A4A3A4"/>
          </p15:clr>
        </p15:guide>
        <p15:guide id="10" orient="horz" pos="273" userDrawn="1">
          <p15:clr>
            <a:srgbClr val="A4A3A4"/>
          </p15:clr>
        </p15:guide>
        <p15:guide id="11" orient="horz" pos="3911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">
            <a:extLst>
              <a:ext uri="{FF2B5EF4-FFF2-40B4-BE49-F238E27FC236}">
                <a16:creationId xmlns:a16="http://schemas.microsoft.com/office/drawing/2014/main" id="{AD91D610-7D0B-4C76-86CE-BE433FA20E4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l="10499" r="10499"/>
          <a:stretch/>
        </p:blipFill>
        <p:spPr bwMode="gray"/>
      </p:pic>
      <p:sp>
        <p:nvSpPr>
          <p:cNvPr id="6" name="Layer">
            <a:extLst>
              <a:ext uri="{FF2B5EF4-FFF2-40B4-BE49-F238E27FC236}">
                <a16:creationId xmlns:a16="http://schemas.microsoft.com/office/drawing/2014/main" id="{85CB1E49-3522-47EB-A752-4F3477946511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8737ED2-7C38-4F50-9655-69387ED481A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8843" y="372366"/>
            <a:ext cx="7513983" cy="1878965"/>
          </a:xfrm>
        </p:spPr>
        <p:txBody>
          <a:bodyPr/>
          <a:lstStyle/>
          <a:p>
            <a:r>
              <a:rPr lang="en-GB" sz="2800" cap="none" dirty="0"/>
              <a:t>A Comparative Study of Function Calling in LLMs With a Focus on Fine-Tuning For Precision</a:t>
            </a:r>
            <a:endParaRPr lang="en-US" sz="2800" cap="none" dirty="0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7DF748-BFCD-4B44-A29B-66E8B1644C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875782" y="2737800"/>
            <a:ext cx="6827044" cy="1098704"/>
          </a:xfrm>
        </p:spPr>
        <p:txBody>
          <a:bodyPr/>
          <a:lstStyle/>
          <a:p>
            <a:r>
              <a:rPr lang="en-GB" sz="2000" b="1" dirty="0"/>
              <a:t>Master’s Thesis</a:t>
            </a:r>
          </a:p>
          <a:p>
            <a:r>
              <a:rPr lang="en-GB" sz="1600" dirty="0"/>
              <a:t>Computer Science</a:t>
            </a:r>
          </a:p>
          <a:p>
            <a:r>
              <a:rPr lang="en-GB" sz="2000" b="1" dirty="0"/>
              <a:t>Kunjan Ketanbhai Shah</a:t>
            </a:r>
          </a:p>
          <a:p>
            <a:r>
              <a:rPr lang="en-IN" sz="1800" dirty="0"/>
              <a:t>Matr.-Nr. 6961713</a:t>
            </a:r>
            <a:endParaRPr lang="en-US" sz="1800" dirty="0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CFA1BA6-A050-47F1-90AF-7AB26EE2264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gray">
          <a:xfrm>
            <a:off x="992550" y="5765634"/>
            <a:ext cx="6710276" cy="720000"/>
          </a:xfrm>
        </p:spPr>
        <p:txBody>
          <a:bodyPr/>
          <a:lstStyle/>
          <a:p>
            <a:r>
              <a:rPr lang="en-US" sz="2300" dirty="0"/>
              <a:t>Paderborn | November 19, 2025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B0B1CCC-81F7-9557-A2D0-DD604A5B9DCC}"/>
              </a:ext>
            </a:extLst>
          </p:cNvPr>
          <p:cNvSpPr txBox="1">
            <a:spLocks/>
          </p:cNvSpPr>
          <p:nvPr/>
        </p:nvSpPr>
        <p:spPr bwMode="gray">
          <a:xfrm>
            <a:off x="875782" y="4457740"/>
            <a:ext cx="6827044" cy="10987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None/>
              <a:defRPr sz="2400" b="0" kern="1200" cap="none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sz="1400" dirty="0"/>
              <a:t>Examiners: </a:t>
            </a:r>
            <a:br>
              <a:rPr lang="en-IN" sz="1400" dirty="0"/>
            </a:br>
            <a:r>
              <a:rPr lang="en-IN" sz="1400" dirty="0"/>
              <a:t>Herr Prof. Dr.-Ing. Roman Dumitrescu </a:t>
            </a:r>
            <a:br>
              <a:rPr lang="en-IN" sz="1400" dirty="0"/>
            </a:br>
            <a:r>
              <a:rPr lang="en-IN" sz="1400" dirty="0"/>
              <a:t>Herr Dr.-Ing. Christian Koldewey</a:t>
            </a:r>
            <a:br>
              <a:rPr lang="en-IN" sz="1400" dirty="0"/>
            </a:br>
            <a:r>
              <a:rPr lang="en-IN" sz="1400" dirty="0"/>
              <a:t>Herr M. Eng. Tommy Falkowski </a:t>
            </a:r>
            <a:br>
              <a:rPr lang="en-IN" sz="1400" dirty="0"/>
            </a:br>
            <a:r>
              <a:rPr lang="en-IN" sz="1400" dirty="0"/>
              <a:t>Herr M. Sc. Siddhanth Janadri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385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">
            <a:extLst>
              <a:ext uri="{FF2B5EF4-FFF2-40B4-BE49-F238E27FC236}">
                <a16:creationId xmlns:a16="http://schemas.microsoft.com/office/drawing/2014/main" id="{3C4550B6-3CAB-46C6-AFC8-93794F3060D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/>
      </p:pic>
      <p:sp>
        <p:nvSpPr>
          <p:cNvPr id="10" name="Layer">
            <a:extLst>
              <a:ext uri="{FF2B5EF4-FFF2-40B4-BE49-F238E27FC236}">
                <a16:creationId xmlns:a16="http://schemas.microsoft.com/office/drawing/2014/main" id="{28E08FE9-111C-45D5-92D9-24F999A73138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" name="Logo 1">
            <a:extLst>
              <a:ext uri="{FF2B5EF4-FFF2-40B4-BE49-F238E27FC236}">
                <a16:creationId xmlns:a16="http://schemas.microsoft.com/office/drawing/2014/main" id="{D65DCF94-13C3-4097-BAFA-B94E06CA346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16" name="Logo 2">
            <a:extLst>
              <a:ext uri="{FF2B5EF4-FFF2-40B4-BE49-F238E27FC236}">
                <a16:creationId xmlns:a16="http://schemas.microsoft.com/office/drawing/2014/main" id="{9E1DECC0-2850-4061-AE19-25567FAC8608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95AB7EFF-57EF-4577-937E-17F6424591A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53485" y="296384"/>
            <a:ext cx="6260400" cy="900000"/>
          </a:xfrm>
        </p:spPr>
        <p:txBody>
          <a:bodyPr/>
          <a:lstStyle/>
          <a:p>
            <a:r>
              <a:rPr lang="en-US" cap="none" dirty="0"/>
              <a:t>Outline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03CCADFB-F3AC-46CA-816E-6F701AF9EF45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1260343" y="2201400"/>
            <a:ext cx="6260400" cy="2455200"/>
          </a:xfrm>
        </p:spPr>
        <p:txBody>
          <a:bodyPr/>
          <a:lstStyle/>
          <a:p>
            <a:r>
              <a:rPr lang="en-IN" dirty="0"/>
              <a:t>Introduction &amp; Motivation</a:t>
            </a:r>
          </a:p>
          <a:p>
            <a:r>
              <a:rPr lang="en-IN" dirty="0"/>
              <a:t>Research Questions &amp; Objectives</a:t>
            </a:r>
            <a:endParaRPr lang="en-US" dirty="0"/>
          </a:p>
          <a:p>
            <a:r>
              <a:rPr lang="en-US" dirty="0"/>
              <a:t>Background 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Research Findings</a:t>
            </a:r>
          </a:p>
          <a:p>
            <a:r>
              <a:rPr lang="en-US" dirty="0"/>
              <a:t>Limitations &amp; Future Work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7D243588-1A9B-4B79-858C-F5FA4C237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4D5AFE5-1CB6-4567-AFDA-85C87607FF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29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CEA8B110-6478-48D3-9F7C-DD154AF7DAD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93B42811-61CF-4CD3-B6E0-B0C2986E4F45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471F0115-C22D-4132-BE4E-DB11BBD3700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A0168C24-CF33-43D1-A2E8-770BEEB4A8B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83CF42F-51F2-4DD8-A4DF-C256EA70B7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2234711"/>
            <a:ext cx="6735874" cy="1800000"/>
          </a:xfrm>
        </p:spPr>
        <p:txBody>
          <a:bodyPr/>
          <a:lstStyle/>
          <a:p>
            <a:r>
              <a:rPr lang="en-IN" dirty="0"/>
              <a:t>Introduction &amp;   Motivation</a:t>
            </a:r>
            <a:endParaRPr lang="en-US" dirty="0"/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F75C9C70-BB72-4C62-A1B1-8ECB1D8A0E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46D6A4CA-70DD-4497-8E2E-1C2209D00B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FD07EC5-50C1-497A-83F5-6C8F0756CD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8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0B2BDEF-71AA-471F-BEFC-31E1DFEFF76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IN" dirty="0"/>
              <a:t>Introduction &amp; Motivation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F4C4D0E-E495-4EC0-A89D-3EF007770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IN" dirty="0"/>
              <a:t>Context	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740D22E5-F7AA-49E0-A49E-A54860DB339B}"/>
              </a:ext>
            </a:extLst>
          </p:cNvPr>
          <p:cNvSpPr>
            <a:spLocks noGrp="1"/>
          </p:cNvSpPr>
          <p:nvPr>
            <p:ph sz="quarter" idx="24"/>
          </p:nvPr>
        </p:nvSpPr>
        <p:spPr bwMode="gray">
          <a:xfrm>
            <a:off x="540070" y="1315836"/>
            <a:ext cx="11109600" cy="4698000"/>
          </a:xfrm>
        </p:spPr>
        <p:txBody>
          <a:bodyPr/>
          <a:lstStyle/>
          <a:p>
            <a:r>
              <a:rPr lang="en-GB" sz="2000" dirty="0"/>
              <a:t>Large Language Models (LLMs) can perform many NLP tasks like code generation, summarization, and Q&amp;A.</a:t>
            </a:r>
          </a:p>
          <a:p>
            <a:endParaRPr lang="en-GB" sz="2000" dirty="0"/>
          </a:p>
          <a:p>
            <a:r>
              <a:rPr lang="en-GB" sz="2000" dirty="0"/>
              <a:t>They have opened use cases in domains such as education, medicine, and software development.</a:t>
            </a:r>
          </a:p>
          <a:p>
            <a:endParaRPr lang="en-GB" sz="2000" dirty="0"/>
          </a:p>
          <a:p>
            <a:r>
              <a:rPr lang="en-GB" sz="2000" dirty="0"/>
              <a:t>But they still have key limits: hallucinations and lack of real-time awareness. These issues become serious in AI agents that must act or make decisions.</a:t>
            </a:r>
          </a:p>
          <a:p>
            <a:endParaRPr lang="en-GB" sz="2000" dirty="0"/>
          </a:p>
          <a:p>
            <a:r>
              <a:rPr lang="en-GB" sz="2000" dirty="0"/>
              <a:t>Retraining LLMs to update knowledge is slow and costly. To overcome such limits, “</a:t>
            </a:r>
            <a:r>
              <a:rPr lang="en-GB" sz="2000" b="1" dirty="0"/>
              <a:t>Function Calling</a:t>
            </a:r>
            <a:r>
              <a:rPr lang="en-GB" sz="2000" dirty="0"/>
              <a:t>” (“</a:t>
            </a:r>
            <a:r>
              <a:rPr lang="en-GB" sz="2000" b="1" dirty="0"/>
              <a:t>Tool Use</a:t>
            </a:r>
            <a:r>
              <a:rPr lang="en-GB" sz="2000" dirty="0"/>
              <a:t>” or “</a:t>
            </a:r>
            <a:r>
              <a:rPr lang="en-GB" sz="2000" b="1" dirty="0"/>
              <a:t>Tool Calling</a:t>
            </a:r>
            <a:r>
              <a:rPr lang="en-GB" sz="2000" dirty="0"/>
              <a:t>”) was first introduced in 2023 by OpenAI.</a:t>
            </a:r>
          </a:p>
          <a:p>
            <a:endParaRPr lang="en-GB" sz="2000" dirty="0"/>
          </a:p>
          <a:p>
            <a:r>
              <a:rPr lang="en-GB" sz="2000" dirty="0"/>
              <a:t>It allows models to produce </a:t>
            </a:r>
            <a:r>
              <a:rPr lang="en-GB" sz="2000" b="1" dirty="0"/>
              <a:t>structured JSON outputs </a:t>
            </a:r>
            <a:r>
              <a:rPr lang="en-GB" sz="2000" dirty="0"/>
              <a:t>for better integration with external systems.</a:t>
            </a:r>
          </a:p>
          <a:p>
            <a:endParaRPr lang="en-GB" sz="2000" dirty="0"/>
          </a:p>
          <a:p>
            <a:endParaRPr lang="en-US" sz="2000" dirty="0"/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C6C1D6AB-7D6F-4768-9767-07934D86D7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			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06AAE60-12C6-40AA-98F2-7687EC043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1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0B2BDEF-71AA-471F-BEFC-31E1DFEFF76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IN" dirty="0"/>
              <a:t>Introduction &amp; Motivation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F4C4D0E-E495-4EC0-A89D-3EF007770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IN" dirty="0"/>
              <a:t>Problem Statement	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C6C1D6AB-7D6F-4768-9767-07934D86D7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06AAE60-12C6-40AA-98F2-7687EC043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A90C9644-0C38-72AE-1E21-89214225D95D}"/>
              </a:ext>
            </a:extLst>
          </p:cNvPr>
          <p:cNvSpPr>
            <a:spLocks noGrp="1"/>
          </p:cNvSpPr>
          <p:nvPr>
            <p:ph sz="quarter" idx="25"/>
          </p:nvPr>
        </p:nvSpPr>
        <p:spPr bwMode="gray">
          <a:xfrm>
            <a:off x="540476" y="1296587"/>
            <a:ext cx="11111046" cy="4697413"/>
          </a:xfrm>
        </p:spPr>
        <p:txBody>
          <a:bodyPr/>
          <a:lstStyle/>
          <a:p>
            <a:r>
              <a:rPr lang="en-GB" sz="2000" dirty="0"/>
              <a:t>LLMs are shifting from </a:t>
            </a:r>
            <a:r>
              <a:rPr lang="en-IN" sz="2000" dirty="0"/>
              <a:t>passive (</a:t>
            </a:r>
            <a:r>
              <a:rPr lang="en-GB" sz="2000" dirty="0"/>
              <a:t>simple) text generators to </a:t>
            </a:r>
            <a:r>
              <a:rPr lang="en-IN" sz="2000" dirty="0"/>
              <a:t>active (</a:t>
            </a:r>
            <a:r>
              <a:rPr lang="en-GB" sz="2000" dirty="0"/>
              <a:t>autonomous) agents with memory, planning, reasoning, and tool use.</a:t>
            </a:r>
          </a:p>
          <a:p>
            <a:endParaRPr lang="en-GB" sz="2000" b="1" dirty="0"/>
          </a:p>
          <a:p>
            <a:r>
              <a:rPr lang="en-GB" sz="2000" dirty="0"/>
              <a:t>Agentic frameworks like </a:t>
            </a:r>
            <a:r>
              <a:rPr lang="en-GB" sz="2000" b="1" dirty="0" err="1"/>
              <a:t>LangChain</a:t>
            </a:r>
            <a:r>
              <a:rPr lang="en-GB" sz="2000" b="1" dirty="0"/>
              <a:t>, </a:t>
            </a:r>
            <a:r>
              <a:rPr lang="en-GB" sz="2000" b="1" dirty="0" err="1"/>
              <a:t>CrewAI</a:t>
            </a:r>
            <a:r>
              <a:rPr lang="en-GB" sz="2000" b="1" dirty="0"/>
              <a:t>, and Agno-</a:t>
            </a:r>
            <a:r>
              <a:rPr lang="en-GB" sz="2000" b="1" dirty="0" err="1"/>
              <a:t>agi</a:t>
            </a:r>
            <a:r>
              <a:rPr lang="en-GB" sz="2000" b="1" dirty="0"/>
              <a:t> </a:t>
            </a:r>
            <a:r>
              <a:rPr lang="en-GB" sz="2000" dirty="0"/>
              <a:t>help build such </a:t>
            </a:r>
            <a:r>
              <a:rPr lang="en-IN" sz="2000" dirty="0"/>
              <a:t>orchestration</a:t>
            </a:r>
            <a:r>
              <a:rPr lang="en-GB" sz="2000" dirty="0"/>
              <a:t> but depend heavily on correct function calling.</a:t>
            </a:r>
          </a:p>
          <a:p>
            <a:endParaRPr lang="en-GB" sz="2000" b="1" dirty="0"/>
          </a:p>
          <a:p>
            <a:r>
              <a:rPr lang="en-GB" sz="2000" dirty="0"/>
              <a:t>The problem increases as the </a:t>
            </a:r>
            <a:r>
              <a:rPr lang="en-GB" sz="2000" b="1" dirty="0"/>
              <a:t>number of tools</a:t>
            </a:r>
            <a:r>
              <a:rPr lang="en-GB" sz="2000" dirty="0"/>
              <a:t> and </a:t>
            </a:r>
            <a:r>
              <a:rPr lang="en-GB" sz="2000" b="1" dirty="0"/>
              <a:t>task complexity increase</a:t>
            </a:r>
            <a:r>
              <a:rPr lang="en-GB" sz="2000" dirty="0"/>
              <a:t>; accuracy and stability drop.</a:t>
            </a:r>
          </a:p>
          <a:p>
            <a:pPr marL="0" indent="0">
              <a:buNone/>
            </a:pPr>
            <a:endParaRPr lang="en-GB" sz="2000" b="1" dirty="0"/>
          </a:p>
          <a:p>
            <a:r>
              <a:rPr lang="en-GB" sz="2000" dirty="0"/>
              <a:t>General-purpose LLMs often fail to meet </a:t>
            </a:r>
            <a:r>
              <a:rPr lang="en-GB" sz="2000" b="1" dirty="0"/>
              <a:t>enterprise or domain-specific needs</a:t>
            </a:r>
            <a:r>
              <a:rPr lang="en-GB" sz="2000" dirty="0"/>
              <a:t>, causing inefficiency and unreliable behaviour.</a:t>
            </a:r>
          </a:p>
          <a:p>
            <a:endParaRPr lang="en-GB" sz="2000" b="1" dirty="0"/>
          </a:p>
          <a:p>
            <a:r>
              <a:rPr lang="en-GB" sz="2000" dirty="0"/>
              <a:t>Models may make </a:t>
            </a:r>
            <a:r>
              <a:rPr lang="en-GB" sz="2000" b="1" dirty="0"/>
              <a:t>hallucinated or wrong function calls</a:t>
            </a:r>
            <a:r>
              <a:rPr lang="en-GB" sz="2000" dirty="0"/>
              <a:t> and misuse parameters.</a:t>
            </a:r>
          </a:p>
        </p:txBody>
      </p:sp>
    </p:spTree>
    <p:extLst>
      <p:ext uri="{BB962C8B-B14F-4D97-AF65-F5344CB8AC3E}">
        <p14:creationId xmlns:p14="http://schemas.microsoft.com/office/powerpoint/2010/main" val="130816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B4EE-4329-C535-04D3-51AA81F2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F5F281-D0EF-F514-482E-DA1F574C426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IN" dirty="0"/>
              <a:t>Introduction &amp; Motivation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2994554-764D-188A-BC3E-EAB493798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2BE90FFD-1D31-16D1-3FC2-13AD2E660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047D7D7-004A-02FF-B117-C5366344F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76422C2F-1377-34D3-B2B8-2EEA8768B021}"/>
              </a:ext>
            </a:extLst>
          </p:cNvPr>
          <p:cNvSpPr>
            <a:spLocks noGrp="1"/>
          </p:cNvSpPr>
          <p:nvPr>
            <p:ph sz="quarter" idx="25"/>
          </p:nvPr>
        </p:nvSpPr>
        <p:spPr bwMode="gray">
          <a:xfrm>
            <a:off x="540070" y="1450813"/>
            <a:ext cx="11111046" cy="4697413"/>
          </a:xfrm>
        </p:spPr>
        <p:txBody>
          <a:bodyPr/>
          <a:lstStyle/>
          <a:p>
            <a:r>
              <a:rPr lang="en-GB" sz="2000" b="1" dirty="0"/>
              <a:t>Data privacy and security</a:t>
            </a:r>
            <a:r>
              <a:rPr lang="en-GB" sz="2000" dirty="0"/>
              <a:t> risks arise when relying on external APIs or third-party providers. </a:t>
            </a:r>
            <a:endParaRPr lang="en-US" sz="2000" b="1" dirty="0"/>
          </a:p>
          <a:p>
            <a:endParaRPr lang="en-GB" sz="2000" b="1" dirty="0"/>
          </a:p>
          <a:p>
            <a:r>
              <a:rPr lang="en-GB" sz="2000" b="1" dirty="0"/>
              <a:t>Need:</a:t>
            </a:r>
            <a:r>
              <a:rPr lang="en-GB" sz="2000" dirty="0"/>
              <a:t> Reliable, accurate, and domain-adapted function-calling LLMs for real-world agentic systems.</a:t>
            </a:r>
          </a:p>
          <a:p>
            <a:endParaRPr lang="en-GB" sz="2000" b="1" dirty="0"/>
          </a:p>
          <a:p>
            <a:r>
              <a:rPr lang="en-GB" sz="2000" b="1" dirty="0"/>
              <a:t>Possible direction:</a:t>
            </a:r>
            <a:r>
              <a:rPr lang="en-GB" sz="2000" dirty="0"/>
              <a:t> Fine-tuning LLMs can improve tool selection accuracy, domain adaptation, and reduce hallucination-sometimes outperforming larger base models.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Evidence shows </a:t>
            </a:r>
            <a:r>
              <a:rPr lang="en-GB" sz="2000" b="1" dirty="0"/>
              <a:t>smaller fine-tuned models</a:t>
            </a:r>
            <a:r>
              <a:rPr lang="en-GB" sz="2000" dirty="0"/>
              <a:t> can sometimes outperform larger base models, motivating this study.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6266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0B2BDEF-71AA-471F-BEFC-31E1DFEFF76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IN" dirty="0"/>
              <a:t>Introduction &amp; Motivation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F4C4D0E-E495-4EC0-A89D-3EF007770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US" noProof="0" dirty="0"/>
              <a:t>Motivation</a:t>
            </a:r>
            <a:endParaRPr lang="en-US" dirty="0"/>
          </a:p>
        </p:txBody>
      </p:sp>
      <p:sp>
        <p:nvSpPr>
          <p:cNvPr id="4" name="Content 1">
            <a:extLst>
              <a:ext uri="{FF2B5EF4-FFF2-40B4-BE49-F238E27FC236}">
                <a16:creationId xmlns:a16="http://schemas.microsoft.com/office/drawing/2014/main" id="{740D22E5-F7AA-49E0-A49E-A54860DB339B}"/>
              </a:ext>
            </a:extLst>
          </p:cNvPr>
          <p:cNvSpPr>
            <a:spLocks noGrp="1"/>
          </p:cNvSpPr>
          <p:nvPr>
            <p:ph sz="quarter" idx="24"/>
          </p:nvPr>
        </p:nvSpPr>
        <p:spPr bwMode="gray">
          <a:xfrm>
            <a:off x="540070" y="1458000"/>
            <a:ext cx="11367007" cy="4698000"/>
          </a:xfrm>
        </p:spPr>
        <p:txBody>
          <a:bodyPr vert="horz" lIns="0" tIns="0" rIns="0" bIns="0" rtlCol="0">
            <a:noAutofit/>
          </a:bodyPr>
          <a:lstStyle/>
          <a:p>
            <a:pPr marL="324032" indent="-324032">
              <a:buFont typeface="+mj-lt"/>
              <a:buAutoNum type="arabicPeriod"/>
            </a:pPr>
            <a:r>
              <a:rPr lang="en-IN" dirty="0"/>
              <a:t>Need for customization: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324032" indent="-324032">
              <a:buFont typeface="+mj-lt"/>
              <a:buAutoNum type="arabicPeriod"/>
            </a:pPr>
            <a:r>
              <a:rPr lang="en-IN" dirty="0"/>
              <a:t>Data privacy and control: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324032" indent="-324032">
              <a:buFont typeface="+mj-lt"/>
              <a:buAutoNum type="arabicPeriod"/>
            </a:pPr>
            <a:r>
              <a:rPr lang="en-IN" dirty="0"/>
              <a:t>Edge and on-device deployment: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324032" indent="-324032">
              <a:buFont typeface="+mj-lt"/>
              <a:buAutoNum type="arabicPeriod"/>
            </a:pPr>
            <a:r>
              <a:rPr lang="en-IN" dirty="0"/>
              <a:t>Performance and efficiency: 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324032" indent="-324032">
              <a:buFont typeface="+mj-lt"/>
              <a:buAutoNum type="arabicPeriod"/>
            </a:pPr>
            <a:r>
              <a:rPr lang="en-IN" dirty="0"/>
              <a:t>Reliability and independence: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324032" indent="-324032">
              <a:buFont typeface="+mj-lt"/>
              <a:buAutoNum type="arabicPeriod"/>
            </a:pPr>
            <a:r>
              <a:rPr lang="en-IN" dirty="0"/>
              <a:t>Cost-effectiveness:</a:t>
            </a:r>
          </a:p>
          <a:p>
            <a:pPr marL="324032" indent="-324032"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C6C1D6AB-7D6F-4768-9767-07934D86D7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06AAE60-12C6-40AA-98F2-7687EC0430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12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0B2BDEF-71AA-471F-BEFC-31E1DFEFF76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IN" dirty="0"/>
              <a:t>Introduction &amp; Motivation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F4C4D0E-E495-4EC0-A89D-3EF0077700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US" noProof="0" dirty="0"/>
              <a:t>Goal Statement</a:t>
            </a:r>
            <a:endParaRPr lang="en-US" dirty="0"/>
          </a:p>
        </p:txBody>
      </p:sp>
      <p:sp>
        <p:nvSpPr>
          <p:cNvPr id="22" name="Content 1">
            <a:extLst>
              <a:ext uri="{FF2B5EF4-FFF2-40B4-BE49-F238E27FC236}">
                <a16:creationId xmlns:a16="http://schemas.microsoft.com/office/drawing/2014/main" id="{5C60949E-F0F4-4E53-9DDE-2ADD4261998A}"/>
              </a:ext>
            </a:extLst>
          </p:cNvPr>
          <p:cNvSpPr>
            <a:spLocks noGrp="1"/>
          </p:cNvSpPr>
          <p:nvPr>
            <p:ph sz="quarter" idx="24"/>
          </p:nvPr>
        </p:nvSpPr>
        <p:spPr bwMode="gray">
          <a:xfrm>
            <a:off x="540070" y="1323313"/>
            <a:ext cx="11347129" cy="4698000"/>
          </a:xfrm>
        </p:spPr>
        <p:txBody>
          <a:bodyPr/>
          <a:lstStyle/>
          <a:p>
            <a:pPr lvl="1"/>
            <a:r>
              <a:rPr lang="en-GB" dirty="0"/>
              <a:t>The key research question is </a:t>
            </a:r>
          </a:p>
          <a:p>
            <a:pPr marL="270000" lvl="1" indent="0">
              <a:buNone/>
            </a:pPr>
            <a:r>
              <a:rPr lang="en-GB" dirty="0"/>
              <a:t>	“</a:t>
            </a:r>
            <a:r>
              <a:rPr lang="en-GB" b="1" dirty="0"/>
              <a:t>How does fine-tuning impact the performance of LLMs specifically for function calls?</a:t>
            </a:r>
            <a:r>
              <a:rPr lang="en-GB" dirty="0"/>
              <a:t>” </a:t>
            </a:r>
          </a:p>
          <a:p>
            <a:pPr marL="270000" lvl="1" indent="0">
              <a:buNone/>
            </a:pPr>
            <a:endParaRPr lang="en-GB" dirty="0"/>
          </a:p>
          <a:p>
            <a:pPr lvl="1"/>
            <a:r>
              <a:rPr lang="en-GB" dirty="0"/>
              <a:t>The study also examines if smaller fine-tuned open models can perform competitively compared to larger general-purpose models.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To achieve this, we </a:t>
            </a:r>
            <a:r>
              <a:rPr lang="en-GB" dirty="0" err="1"/>
              <a:t>analyze</a:t>
            </a:r>
            <a:r>
              <a:rPr lang="en-GB" dirty="0"/>
              <a:t> fine-tuning strategies, background knowledge, and evaluate performance using defined metrics.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 following sections present the research questions, background on fine-tuning methods, and experimental evaluation results.</a:t>
            </a:r>
          </a:p>
          <a:p>
            <a:pPr marL="270000" lvl="1" indent="0">
              <a:buNone/>
            </a:pPr>
            <a:endParaRPr lang="en-GB" dirty="0"/>
          </a:p>
          <a:p>
            <a:pPr lvl="1"/>
            <a:endParaRPr lang="en-US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52B37A8-6D7B-406A-AF77-FE8E4D3574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D61C7DED-EB19-4B19-BD6D-96D2A5AEA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6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34EEE-7D77-D10E-545A-F2586488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8ED54F03-373C-7A32-E0AA-D098AC4FA576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B2F87BA0-F8F7-1916-2D21-EFE2D466EC7D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7C1860B1-D71D-6298-DF8D-2C5B0CB4F2DC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973A884A-B785-C5CA-C277-BB448858F4A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5E813AE-01C8-3D7B-4E8B-6B1346E0448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1791448"/>
            <a:ext cx="6735874" cy="1800000"/>
          </a:xfrm>
        </p:spPr>
        <p:txBody>
          <a:bodyPr/>
          <a:lstStyle/>
          <a:p>
            <a:r>
              <a:rPr lang="en-US" dirty="0"/>
              <a:t>RQ</a:t>
            </a:r>
            <a:r>
              <a:rPr lang="en-US" cap="none" dirty="0"/>
              <a:t>s</a:t>
            </a:r>
            <a:r>
              <a:rPr lang="en-US" dirty="0"/>
              <a:t> &amp; objectives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63A6193E-E66F-7CB9-319F-D8171973D9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4DFC3F98-7CEE-8DC3-EDAF-3AB55CCCD4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8E2C46F-6236-341A-E410-7287865162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75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E8CE-E63C-333E-EF72-52F7D02A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1B7AD7F-EBAF-57F5-2D14-1E12F5105AE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RQs &amp; Objectives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BB8BB2A5-337B-B36B-7E79-E8D4FB77448F}"/>
              </a:ext>
            </a:extLst>
          </p:cNvPr>
          <p:cNvSpPr>
            <a:spLocks noGrp="1"/>
          </p:cNvSpPr>
          <p:nvPr>
            <p:ph sz="quarter" idx="24"/>
          </p:nvPr>
        </p:nvSpPr>
        <p:spPr bwMode="gray">
          <a:xfrm>
            <a:off x="541922" y="1080000"/>
            <a:ext cx="11109600" cy="4698000"/>
          </a:xfrm>
        </p:spPr>
        <p:txBody>
          <a:bodyPr/>
          <a:lstStyle/>
          <a:p>
            <a:r>
              <a:rPr lang="en-GB" sz="2000" b="1" dirty="0"/>
              <a:t>RQ1</a:t>
            </a:r>
            <a:r>
              <a:rPr lang="en-GB" sz="2000" dirty="0"/>
              <a:t>: How well do different LLMs generate accurate and API-compliant function calls in </a:t>
            </a:r>
            <a:r>
              <a:rPr lang="en-GB" sz="2000" b="1" dirty="0"/>
              <a:t>single-        turn tasks</a:t>
            </a:r>
            <a:r>
              <a:rPr lang="en-GB" sz="2000" dirty="0"/>
              <a:t>?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endParaRPr lang="en-IN" sz="2000" dirty="0"/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IN" sz="2000" dirty="0"/>
              <a:t>Compare models like GPT, Mistral, Llama, and Qwen.</a:t>
            </a:r>
          </a:p>
          <a:p>
            <a:pPr marL="270000" lvl="1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000" dirty="0"/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en-GB" sz="2000" dirty="0"/>
              <a:t>Check correctness of arguments, schema compliance, data types, and tool-usage detection. Use a synthetic dataset that mirrors real API use cases.</a:t>
            </a:r>
          </a:p>
          <a:p>
            <a:pPr marL="270000" lvl="1" indent="0">
              <a:buNone/>
            </a:pPr>
            <a:endParaRPr lang="en-GB" sz="2000" dirty="0"/>
          </a:p>
          <a:p>
            <a:r>
              <a:rPr lang="en-GB" sz="2000" b="1" dirty="0"/>
              <a:t>RQ2</a:t>
            </a:r>
            <a:r>
              <a:rPr lang="en-GB" sz="2000" dirty="0"/>
              <a:t>: How does precision-focused </a:t>
            </a:r>
            <a:r>
              <a:rPr lang="en-GB" sz="2000" b="1" dirty="0"/>
              <a:t>fine-tuning</a:t>
            </a:r>
            <a:r>
              <a:rPr lang="en-GB" sz="2000" dirty="0"/>
              <a:t> affect function-calling performance? </a:t>
            </a:r>
          </a:p>
          <a:p>
            <a:pPr marL="0" indent="0">
              <a:buNone/>
            </a:pPr>
            <a:endParaRPr lang="en-GB" sz="2000" dirty="0"/>
          </a:p>
          <a:p>
            <a:pPr lvl="1">
              <a:spcBef>
                <a:spcPts val="600"/>
              </a:spcBef>
            </a:pPr>
            <a:r>
              <a:rPr lang="en-US" sz="2000" dirty="0"/>
              <a:t>Fine-tune selected open-source models (Mistral, Llama, Qwen) on an API-specific dataset. Measure improvements over their baseline versions. </a:t>
            </a:r>
          </a:p>
          <a:p>
            <a:pPr lvl="1">
              <a:spcBef>
                <a:spcPts val="600"/>
              </a:spcBef>
            </a:pPr>
            <a:endParaRPr lang="en-US" sz="2000" dirty="0"/>
          </a:p>
          <a:p>
            <a:pPr lvl="1">
              <a:spcBef>
                <a:spcPts val="600"/>
              </a:spcBef>
            </a:pPr>
            <a:r>
              <a:rPr lang="en-US" sz="2000" dirty="0"/>
              <a:t>Evaluate whether fine-tuning reduces errors and increases consistency.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5A695D3B-BFAC-DC8C-7D4A-12CA34B7C7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			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05382172-DFFB-3DA5-6712-CAB2422F15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8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4C75-8AA1-04CC-6CB8-CFA535D4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BDC55A6-F33D-D4A9-616E-670238C9D1F9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RQs &amp; Objectives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9E7B40CA-6EA5-B6F6-9BBE-04474C40F92C}"/>
              </a:ext>
            </a:extLst>
          </p:cNvPr>
          <p:cNvSpPr>
            <a:spLocks noGrp="1"/>
          </p:cNvSpPr>
          <p:nvPr>
            <p:ph sz="quarter" idx="24"/>
          </p:nvPr>
        </p:nvSpPr>
        <p:spPr bwMode="gray">
          <a:xfrm>
            <a:off x="540070" y="1315836"/>
            <a:ext cx="11109600" cy="4698000"/>
          </a:xfrm>
        </p:spPr>
        <p:txBody>
          <a:bodyPr/>
          <a:lstStyle/>
          <a:p>
            <a:r>
              <a:rPr lang="en-GB" sz="2000" b="1" dirty="0"/>
              <a:t>RQ3</a:t>
            </a:r>
            <a:r>
              <a:rPr lang="en-GB" sz="2000" dirty="0"/>
              <a:t>: How does fine-tuning affect </a:t>
            </a:r>
            <a:r>
              <a:rPr lang="en-GB" sz="2000" b="1" dirty="0"/>
              <a:t>multi-turn</a:t>
            </a:r>
            <a:r>
              <a:rPr lang="en-GB" sz="2000" dirty="0"/>
              <a:t> function-calling performance?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Test multi-turn conversations before and after fine-tuning.</a:t>
            </a:r>
          </a:p>
          <a:p>
            <a:pPr marL="270000" lvl="1" indent="0">
              <a:buNone/>
            </a:pPr>
            <a:endParaRPr lang="en-GB" sz="2000" dirty="0"/>
          </a:p>
          <a:p>
            <a:pPr lvl="1"/>
            <a:r>
              <a:rPr lang="en-GB" sz="2000" dirty="0"/>
              <a:t>Evaluate context retention, correct function selection, and parameter accuracy across turns.</a:t>
            </a:r>
            <a:endParaRPr lang="en-US" sz="2000" dirty="0"/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3CB2465F-A2EE-A354-2129-60043DABAB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			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6D1243D-A128-0379-479D-C7493820B4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65685BD5-7F70-499C-8F04-1460C72EE5D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7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BBDC-630C-FFD8-E4F5-F1A6D8EFF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47C38CFB-FFE0-91AB-6BB1-02ECDF09CD9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F642B135-C096-D2BD-7F93-7507106BF8C3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32CAC2C9-1862-4032-1596-60EE112E6CFB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59A089FF-7B5B-D19D-9833-410D3613C26F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B65B375-A778-DF61-884D-A5750493D37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900" y="1775683"/>
            <a:ext cx="6735874" cy="1800000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9A052D95-A0F7-15D6-0414-A53F10D363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6A19E729-A646-8CD9-3876-EB0DEFE8A7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1DF02016-BE0C-05CB-C511-B3E2AC2B7D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5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FE70-B214-6C77-0F52-903A3FA7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F4C90-B64D-9F52-AD53-D162F2F7B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Function Calling in LLMs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6E8B48-48E8-1BEA-027E-1EE5925AAD89}"/>
              </a:ext>
            </a:extLst>
          </p:cNvPr>
          <p:cNvPicPr>
            <a:picLocks noGrp="1" noChangeAspect="1"/>
          </p:cNvPicPr>
          <p:nvPr>
            <p:ph sz="quarter" idx="24"/>
          </p:nvPr>
        </p:nvPicPr>
        <p:blipFill>
          <a:blip r:embed="rId3"/>
          <a:stretch>
            <a:fillRect/>
          </a:stretch>
        </p:blipFill>
        <p:spPr>
          <a:xfrm>
            <a:off x="3136958" y="1053976"/>
            <a:ext cx="6087429" cy="5037695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E941-E4D1-108A-A9E5-66BD307DFE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74EA0-56E0-8970-FC4B-8FA90D92E2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3E495-F230-2606-156B-55CA55C4E07C}"/>
              </a:ext>
            </a:extLst>
          </p:cNvPr>
          <p:cNvSpPr txBox="1"/>
          <p:nvPr/>
        </p:nvSpPr>
        <p:spPr>
          <a:xfrm>
            <a:off x="4481564" y="5968800"/>
            <a:ext cx="4893547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 algn="l">
              <a:buFontTx/>
              <a:buNone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Internal Working of Function Calling</a:t>
            </a:r>
          </a:p>
        </p:txBody>
      </p:sp>
    </p:spTree>
    <p:extLst>
      <p:ext uri="{BB962C8B-B14F-4D97-AF65-F5344CB8AC3E}">
        <p14:creationId xmlns:p14="http://schemas.microsoft.com/office/powerpoint/2010/main" val="10557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101E-A2FD-CD4B-2A18-D24999DC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C0CE5-E4E0-BF90-9D4F-1921002613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Categories in Function Calling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F9A28-4859-D09A-DA44-9A31E4317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322F9-35F8-4612-73C0-EC7CDA5A7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29CA1-3A16-CE66-FCC1-187CD02BD878}"/>
              </a:ext>
            </a:extLst>
          </p:cNvPr>
          <p:cNvSpPr txBox="1"/>
          <p:nvPr/>
        </p:nvSpPr>
        <p:spPr>
          <a:xfrm>
            <a:off x="540476" y="1521269"/>
            <a:ext cx="3778666" cy="1086522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en-IN" sz="2000" dirty="0"/>
              <a:t>Single-Turn Function Calling: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BDF66-3552-5BCE-8136-2B48D31F1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266" y="2488569"/>
            <a:ext cx="5730737" cy="32159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CB65F6-C5CE-AD73-88BB-2E3933191348}"/>
              </a:ext>
            </a:extLst>
          </p:cNvPr>
          <p:cNvSpPr txBox="1"/>
          <p:nvPr/>
        </p:nvSpPr>
        <p:spPr>
          <a:xfrm>
            <a:off x="6411872" y="1459689"/>
            <a:ext cx="3926541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r>
              <a:rPr lang="en-IN" sz="2000" dirty="0"/>
              <a:t>2. Parallel Function Calling: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C34F3D-5AA8-E413-1305-E08A9D3D4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25" y="2599215"/>
            <a:ext cx="5276028" cy="17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DEDB-79A6-728F-C156-23BE3139F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5C11-713C-DDC4-EBFE-74CD1E81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6DB2C-C843-5ACD-C900-7F7CEF2BFA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Categories in Function Calling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8C935-C265-92FA-F22A-E0D7A3F5A3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B13C8-0A60-64D9-0130-58F09C7C7B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56E14-D03A-4EDF-D8D9-D186E75940E1}"/>
              </a:ext>
            </a:extLst>
          </p:cNvPr>
          <p:cNvSpPr txBox="1"/>
          <p:nvPr/>
        </p:nvSpPr>
        <p:spPr>
          <a:xfrm>
            <a:off x="548632" y="1287567"/>
            <a:ext cx="3778666" cy="1086522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r>
              <a:rPr lang="en-IN" sz="2000" dirty="0"/>
              <a:t>3. Nested Function Calling: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890AC-7931-EB9B-E75D-48FE5B3CAA89}"/>
              </a:ext>
            </a:extLst>
          </p:cNvPr>
          <p:cNvSpPr txBox="1"/>
          <p:nvPr/>
        </p:nvSpPr>
        <p:spPr>
          <a:xfrm>
            <a:off x="6519673" y="1287567"/>
            <a:ext cx="3926541" cy="9144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r>
              <a:rPr lang="en-IN" sz="2000" dirty="0"/>
              <a:t>4. Multi-Turn Function Calling: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8D234-0DCF-B819-455C-5A415D246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76" y="1819646"/>
            <a:ext cx="5419259" cy="12411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F08FA-DD37-2E6F-9074-1FABF49B6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44" y="2906168"/>
            <a:ext cx="4340043" cy="33947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A9C9F2-047C-4383-B9AE-7AE647B0A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267" y="1708049"/>
            <a:ext cx="5164909" cy="25120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9CDF82-9468-7B87-8709-4A6E2A448E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684"/>
          <a:stretch>
            <a:fillRect/>
          </a:stretch>
        </p:blipFill>
        <p:spPr>
          <a:xfrm>
            <a:off x="6095593" y="3736094"/>
            <a:ext cx="5959373" cy="22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9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5D2F-CF2E-0FC1-356B-7FC4CB24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C658E-E0D8-D6F3-62B3-1A04C07F8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Fine-Tuning Techniques, Approaches and Strategies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B64A4-165D-16CA-82D1-37D0D76FC47D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b="1" dirty="0"/>
              <a:t>What is Fine-Tuning?</a:t>
            </a:r>
            <a:endParaRPr lang="en-GB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Adapts a pre-trained LLM to a specific task using a smaller, targeted dataset. Builds on the model’s general language knowledge to improve performance on specialized tasks.</a:t>
            </a:r>
          </a:p>
          <a:p>
            <a:pPr marL="2700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2700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b="1" dirty="0"/>
              <a:t>Supervised Fine-Tuning (SFT)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Uses </a:t>
            </a:r>
            <a:r>
              <a:rPr lang="en-GB" dirty="0" err="1"/>
              <a:t>labeled</a:t>
            </a:r>
            <a:r>
              <a:rPr lang="en-GB" dirty="0"/>
              <a:t> pairs: each input has a correct output. Base model weights (e.g., from Hugging Face) are adjusted using task-specific examples. Ideal for structured tasks like function calling.</a:t>
            </a:r>
          </a:p>
          <a:p>
            <a:pPr marL="2700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270000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b="1" dirty="0"/>
              <a:t>Parameter-Efficient Fine-Tuning (PEFT)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Updates only a small subset of parameters while keeping most of the model weights frozen. Reduces compute and memory cost compared to full fine-tuning.</a:t>
            </a:r>
          </a:p>
          <a:p>
            <a:pPr marL="270000" lvl="1" indent="0">
              <a:buNone/>
            </a:pPr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4DFDD-6038-665E-6F9D-61B2B3DB3B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41A7-255E-E799-FB7E-27CDBD8B4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6960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5372-1BD1-5287-79BD-C2480008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6F037DEB-74DC-3F09-6210-88D64534637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27DEECDF-1B8E-ED76-49FC-29DDD321E4B5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D3064CA1-5B37-11E3-BFA7-28006BD16A8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8716FDE6-81F8-BBB7-4C2A-1FC99C269813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032273B-A6C6-DE4F-C6A8-215D364564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1770428"/>
            <a:ext cx="6735874" cy="180000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B9EE236D-FDB3-117D-86B6-1563BCC88A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790C7468-F731-E602-DB50-C18E102D85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C6A20E7-1687-FAAF-9786-A22545D55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00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B3E6-7F73-EBA0-63BE-318BE9F4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FCB3-DA89-9D49-01A3-E7D26CCA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140A4-2304-F53B-EC50-BECD18CD6B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Dataset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6A1BA-D629-DD76-972A-26619E5060C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08902" y="1256093"/>
            <a:ext cx="6328381" cy="4698000"/>
          </a:xfrm>
        </p:spPr>
        <p:txBody>
          <a:bodyPr/>
          <a:lstStyle/>
          <a:p>
            <a:r>
              <a:rPr lang="en-IN" dirty="0"/>
              <a:t>Dataset foundation</a:t>
            </a:r>
          </a:p>
          <a:p>
            <a:pPr lvl="1"/>
            <a:r>
              <a:rPr lang="en-GB" dirty="0"/>
              <a:t>Dataset creation is the first and most important step for fine-tuning LLMs. Focused on enterprise-level scenarios where function calling is common.</a:t>
            </a:r>
          </a:p>
          <a:p>
            <a:pPr lvl="1"/>
            <a:endParaRPr lang="en-GB" dirty="0"/>
          </a:p>
          <a:p>
            <a:r>
              <a:rPr lang="en-IN" dirty="0"/>
              <a:t>Use case design</a:t>
            </a:r>
          </a:p>
          <a:p>
            <a:pPr lvl="1"/>
            <a:r>
              <a:rPr lang="en-GB" dirty="0"/>
              <a:t>Created 15 realistic enterprise scenarios across HR, finance, logistics, IT, and support. Scenarios built through brainstorming and AI-assisted tools.</a:t>
            </a:r>
          </a:p>
          <a:p>
            <a:pPr lvl="1"/>
            <a:endParaRPr lang="en-GB" dirty="0"/>
          </a:p>
          <a:p>
            <a:r>
              <a:rPr lang="en-IN" dirty="0"/>
              <a:t>Function generation</a:t>
            </a:r>
          </a:p>
          <a:p>
            <a:pPr lvl="1"/>
            <a:r>
              <a:rPr lang="en-IN" dirty="0"/>
              <a:t>Single-Turn: 45 functions (3 per scenario)</a:t>
            </a:r>
          </a:p>
          <a:p>
            <a:pPr lvl="1"/>
            <a:r>
              <a:rPr lang="en-IN" dirty="0"/>
              <a:t>Multi-Turn setup: 15 functions (1 per scenario) to keep context manageable.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3A3D-60F0-F2CF-1CAE-89BDDBB8F4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17A2-FAD5-A8F7-9207-C716275353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18</a:t>
            </a:fld>
            <a:endParaRPr lang="en-US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3AF325-1869-4627-14D4-FFE8F1F0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877" y="637551"/>
            <a:ext cx="4791051" cy="50791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DC8067-1995-05FD-A691-305C8CC8CCC9}"/>
              </a:ext>
            </a:extLst>
          </p:cNvPr>
          <p:cNvSpPr txBox="1"/>
          <p:nvPr/>
        </p:nvSpPr>
        <p:spPr>
          <a:xfrm>
            <a:off x="6095593" y="5748817"/>
            <a:ext cx="6095194" cy="251649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GB" sz="1100" dirty="0"/>
              <a:t>Example of JSON Schema for </a:t>
            </a:r>
          </a:p>
          <a:p>
            <a:pPr algn="ctr"/>
            <a:r>
              <a:rPr lang="en-GB" sz="1100" dirty="0"/>
              <a:t>the Function ‘</a:t>
            </a:r>
            <a:r>
              <a:rPr lang="en-GB" sz="1100" dirty="0" err="1"/>
              <a:t>schedule_performance_review</a:t>
            </a:r>
            <a:r>
              <a:rPr lang="en-GB" sz="1100" dirty="0"/>
              <a:t>’ </a:t>
            </a:r>
            <a:endParaRPr lang="en-IN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FCEC-F266-18A6-28C6-5BFA401F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15AD-9FBE-2729-EBD9-02E9ABFA07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Dataset Generation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E64FE-34BB-E5D1-E39E-95146036D38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41922" y="1332000"/>
            <a:ext cx="11109600" cy="4698000"/>
          </a:xfrm>
        </p:spPr>
        <p:txBody>
          <a:bodyPr/>
          <a:lstStyle/>
          <a:p>
            <a:r>
              <a:rPr lang="en-IN" dirty="0"/>
              <a:t>Prompt difficulty types</a:t>
            </a:r>
          </a:p>
          <a:p>
            <a:pPr lvl="1"/>
            <a:r>
              <a:rPr lang="en-GB" dirty="0"/>
              <a:t>User queries generated in different difficulty levels: simple, complex, ambiguous, unclear. Helps simulate real-world user behaviour.</a:t>
            </a:r>
            <a:endParaRPr lang="en-IN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Dataset splitting</a:t>
            </a:r>
          </a:p>
          <a:p>
            <a:pPr lvl="1"/>
            <a:r>
              <a:rPr lang="en-GB" dirty="0"/>
              <a:t>Final dataset split into 80% train, 10% validation, and 10% test. Training teaches the model; validation tunes it; test measures real-world performance.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D748A-F458-6A0C-4467-9A3E3DE139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B84D-72CF-C19E-A1A3-51170405A3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19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0030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2B1E-B91A-6142-638B-3021BD00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22130-769D-940A-06ED-C6C615436E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B3395-B73C-563C-147C-43875DA081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40476" y="1404700"/>
            <a:ext cx="11111046" cy="4985300"/>
          </a:xfrm>
        </p:spPr>
        <p:txBody>
          <a:bodyPr/>
          <a:lstStyle/>
          <a:p>
            <a:r>
              <a:rPr lang="en-GB" dirty="0"/>
              <a:t>Models are chosen based on performance, number of parameters, availability of weights for fine-tuning, API access provided by the Institute, accuracy, and effectiveness in tool calling. </a:t>
            </a:r>
          </a:p>
          <a:p>
            <a:endParaRPr lang="en-GB" dirty="0"/>
          </a:p>
          <a:p>
            <a:r>
              <a:rPr lang="en-GB" dirty="0"/>
              <a:t>Models used in this work:</a:t>
            </a:r>
          </a:p>
          <a:p>
            <a:pPr lvl="1"/>
            <a:r>
              <a:rPr lang="en-IN" dirty="0"/>
              <a:t>OpenAI GPT-5 (gpt-5-2025-08-07)</a:t>
            </a:r>
          </a:p>
          <a:p>
            <a:pPr lvl="1"/>
            <a:r>
              <a:rPr lang="en-IN" dirty="0"/>
              <a:t>Qwen3-14B (</a:t>
            </a:r>
            <a:r>
              <a:rPr lang="en-IN" dirty="0" err="1"/>
              <a:t>qwen</a:t>
            </a:r>
            <a:r>
              <a:rPr lang="en-IN" dirty="0"/>
              <a:t>/qwen3-14b)</a:t>
            </a:r>
          </a:p>
          <a:p>
            <a:pPr lvl="1"/>
            <a:r>
              <a:rPr lang="en-IN" dirty="0"/>
              <a:t>Llama-3.1-8B-Instruct (meta-llama/llama-3.1-8b-instruct)</a:t>
            </a:r>
          </a:p>
          <a:p>
            <a:pPr lvl="1"/>
            <a:r>
              <a:rPr lang="en-IN" dirty="0"/>
              <a:t>Ministral-8B-Instruct-2410 (</a:t>
            </a:r>
            <a:r>
              <a:rPr lang="en-IN" dirty="0" err="1"/>
              <a:t>mistralai</a:t>
            </a:r>
            <a:r>
              <a:rPr lang="en-IN" dirty="0"/>
              <a:t>/ministral-8b)</a:t>
            </a:r>
          </a:p>
          <a:p>
            <a:pPr lvl="1"/>
            <a:endParaRPr lang="en-IN" dirty="0"/>
          </a:p>
          <a:p>
            <a:r>
              <a:rPr lang="en-GB" dirty="0"/>
              <a:t>In this work, "Instruct" versions of models are used instead of "Base" versions for fine tuning, as they are better suited for conversational and function calling tasks.  </a:t>
            </a:r>
          </a:p>
          <a:p>
            <a:pPr lvl="1"/>
            <a:r>
              <a:rPr lang="en-GB" dirty="0"/>
              <a:t>These models follow natural instructions more accurately and align well with chat templates such as </a:t>
            </a:r>
            <a:r>
              <a:rPr lang="en-GB" dirty="0" err="1"/>
              <a:t>ChatML</a:t>
            </a:r>
            <a:r>
              <a:rPr lang="en-GB" dirty="0"/>
              <a:t> and </a:t>
            </a:r>
            <a:r>
              <a:rPr lang="en-GB" dirty="0" err="1"/>
              <a:t>ShareGPT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B0B81-8A2D-71C1-A041-A6A7B8031A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A4929-1E40-8053-9E57-D688F8C530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2489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21F3-F975-6A73-7404-997F082F3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FCB0D-CAD8-0970-7848-69A105975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Fine-Tuning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7DD77-905F-5742-3730-B50E5E79A22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38625" y="1224000"/>
            <a:ext cx="11111046" cy="4985300"/>
          </a:xfrm>
        </p:spPr>
        <p:txBody>
          <a:bodyPr/>
          <a:lstStyle/>
          <a:p>
            <a:r>
              <a:rPr lang="en-IN" b="1" dirty="0"/>
              <a:t>Framework Choice</a:t>
            </a:r>
            <a:endParaRPr lang="en-IN" dirty="0"/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Used </a:t>
            </a:r>
            <a:r>
              <a:rPr lang="en-GB" b="1" dirty="0"/>
              <a:t>Unsloth</a:t>
            </a:r>
            <a:r>
              <a:rPr lang="en-GB" dirty="0"/>
              <a:t> framework for efficient fine-tuning.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Works well on low-VRAM GPUs and supports </a:t>
            </a:r>
            <a:r>
              <a:rPr lang="en-GB" b="1" dirty="0"/>
              <a:t>4-bit/16-bit quantization</a:t>
            </a:r>
            <a:r>
              <a:rPr lang="en-GB" dirty="0"/>
              <a:t>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Fully compatible with </a:t>
            </a:r>
            <a:r>
              <a:rPr lang="en-GB" b="1" dirty="0" err="1"/>
              <a:t>QLoRA</a:t>
            </a:r>
            <a:r>
              <a:rPr lang="en-GB" dirty="0"/>
              <a:t> + </a:t>
            </a:r>
            <a:r>
              <a:rPr lang="en-GB" b="1" dirty="0" err="1"/>
              <a:t>BitsAndBytes</a:t>
            </a:r>
            <a:r>
              <a:rPr lang="en-GB" dirty="0"/>
              <a:t>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Integrated with </a:t>
            </a:r>
            <a:r>
              <a:rPr lang="en-GB" b="1" dirty="0"/>
              <a:t>Hugging Face Transformers</a:t>
            </a:r>
            <a:r>
              <a:rPr lang="en-GB" dirty="0"/>
              <a:t> for models, tokenizers, and training scripts.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Supports </a:t>
            </a:r>
            <a:r>
              <a:rPr lang="en-GB" b="1" dirty="0"/>
              <a:t>GGUF</a:t>
            </a:r>
            <a:r>
              <a:rPr lang="en-GB" dirty="0"/>
              <a:t>, instruct, and base models.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Lightweight and ideal for </a:t>
            </a:r>
            <a:r>
              <a:rPr lang="en-GB" b="1" dirty="0"/>
              <a:t>local / </a:t>
            </a:r>
            <a:r>
              <a:rPr lang="en-GB" b="1" dirty="0" err="1"/>
              <a:t>Colab</a:t>
            </a:r>
            <a:r>
              <a:rPr lang="en-GB" b="1" dirty="0"/>
              <a:t> / Kaggle</a:t>
            </a:r>
            <a:r>
              <a:rPr lang="en-GB" dirty="0"/>
              <a:t> environments.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Supports LLMs, BERT, vision, TTS, and RL models.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Experiments run on </a:t>
            </a:r>
            <a:r>
              <a:rPr lang="en-GB" b="1" dirty="0"/>
              <a:t>NVIDIA A100-80GB</a:t>
            </a:r>
            <a:r>
              <a:rPr lang="en-GB" dirty="0"/>
              <a:t> GPU with 12 CPU cores.</a:t>
            </a:r>
          </a:p>
          <a:p>
            <a:pPr marL="468000" lvl="1">
              <a:lnSpc>
                <a:spcPct val="150000"/>
              </a:lnSpc>
              <a:spcBef>
                <a:spcPts val="600"/>
              </a:spcBef>
            </a:pPr>
            <a:r>
              <a:rPr lang="en-GB" dirty="0"/>
              <a:t>Single-GPU setup; multi-GPU support still developing for Unsloth. 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F04DB-75A5-1318-994E-D99693A6E0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AA26-C851-9943-F695-B7C5ED5825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8869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CB6D-6ADA-FCBD-2D30-4AB6324F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EA3D-8208-C1DC-A78A-0F0DF4C2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1043A-C90E-E953-6681-EAC9D6B6C7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Fine-Tuning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FC288-64C4-D2CB-77D7-632B4E8391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53485" y="1339470"/>
            <a:ext cx="11111046" cy="4985300"/>
          </a:xfrm>
        </p:spPr>
        <p:txBody>
          <a:bodyPr/>
          <a:lstStyle/>
          <a:p>
            <a:r>
              <a:rPr lang="en-IN" b="1" dirty="0"/>
              <a:t>Training Workflow</a:t>
            </a:r>
          </a:p>
          <a:p>
            <a:pPr lvl="1"/>
            <a:r>
              <a:rPr lang="en-IN" dirty="0"/>
              <a:t>Load dataset.</a:t>
            </a:r>
          </a:p>
          <a:p>
            <a:pPr lvl="1"/>
            <a:r>
              <a:rPr lang="en-IN" dirty="0"/>
              <a:t>Load model + tokenizer in </a:t>
            </a:r>
            <a:r>
              <a:rPr lang="en-IN" b="1" dirty="0"/>
              <a:t>4-bit </a:t>
            </a:r>
            <a:r>
              <a:rPr lang="en-IN" b="1" dirty="0" err="1"/>
              <a:t>QLoRA</a:t>
            </a:r>
            <a:r>
              <a:rPr lang="en-IN" b="1" dirty="0"/>
              <a:t> format</a:t>
            </a:r>
            <a:r>
              <a:rPr lang="en-IN" dirty="0"/>
              <a:t>.</a:t>
            </a:r>
          </a:p>
          <a:p>
            <a:pPr lvl="2"/>
            <a:r>
              <a:rPr lang="en-IN" dirty="0"/>
              <a:t>Why </a:t>
            </a:r>
            <a:r>
              <a:rPr lang="en-IN" dirty="0" err="1"/>
              <a:t>QLoRA</a:t>
            </a:r>
            <a:r>
              <a:rPr lang="en-IN" dirty="0"/>
              <a:t>?</a:t>
            </a:r>
          </a:p>
          <a:p>
            <a:pPr lvl="3"/>
            <a:r>
              <a:rPr lang="en-GB" dirty="0"/>
              <a:t>Extends </a:t>
            </a:r>
            <a:r>
              <a:rPr lang="en-GB" dirty="0" err="1"/>
              <a:t>LoRA</a:t>
            </a:r>
            <a:r>
              <a:rPr lang="en-GB" dirty="0"/>
              <a:t> by combining low-rank adapters with 4-bit or 8-bit weight quantization Enables fine-tuning very large models on single-GPU or consumer hardware. </a:t>
            </a:r>
          </a:p>
          <a:p>
            <a:pPr lvl="3"/>
            <a:r>
              <a:rPr lang="en-GB" dirty="0"/>
              <a:t>Example: Llama-65B full fine-tune needs ~780GB; </a:t>
            </a:r>
            <a:r>
              <a:rPr lang="en-GB" dirty="0" err="1"/>
              <a:t>QLoRA</a:t>
            </a:r>
            <a:r>
              <a:rPr lang="en-GB" dirty="0"/>
              <a:t> reduces it to ~48GB of VRAM. </a:t>
            </a:r>
          </a:p>
          <a:p>
            <a:pPr lvl="2"/>
            <a:endParaRPr lang="en-IN" dirty="0"/>
          </a:p>
          <a:p>
            <a:pPr lvl="1"/>
            <a:r>
              <a:rPr lang="en-IN" dirty="0"/>
              <a:t>Apply </a:t>
            </a:r>
            <a:r>
              <a:rPr lang="en-IN" b="1" dirty="0" err="1"/>
              <a:t>LoRA</a:t>
            </a:r>
            <a:r>
              <a:rPr lang="en-IN" b="1" dirty="0"/>
              <a:t> adapters</a:t>
            </a:r>
            <a:r>
              <a:rPr lang="en-IN" dirty="0"/>
              <a:t> instead of updating full weights.</a:t>
            </a:r>
          </a:p>
          <a:p>
            <a:pPr lvl="1"/>
            <a:r>
              <a:rPr lang="en-IN" dirty="0"/>
              <a:t>Process the dataset using:</a:t>
            </a:r>
          </a:p>
          <a:p>
            <a:pPr lvl="2"/>
            <a:r>
              <a:rPr lang="en-IN" b="1" dirty="0" err="1"/>
              <a:t>ChatML</a:t>
            </a:r>
            <a:r>
              <a:rPr lang="en-IN" dirty="0"/>
              <a:t> for single-turn and multi-turn.</a:t>
            </a:r>
          </a:p>
          <a:p>
            <a:pPr lvl="1"/>
            <a:r>
              <a:rPr lang="en-IN" dirty="0"/>
              <a:t>Start training.</a:t>
            </a:r>
          </a:p>
          <a:p>
            <a:pPr lvl="1"/>
            <a:r>
              <a:rPr lang="en-IN" dirty="0"/>
              <a:t>Save and export the fine-tuned model for inference &amp; evaluation.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9E6A6-17F0-D907-4984-1F2DB0338E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E796F-E5BA-C893-ED27-265648D387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589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9652-4912-CF29-FF91-D5C6E286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E76C-B656-6241-8E8A-56C68854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8DC9-CEF9-DF05-CF2E-2A11C8D98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Hyperparameter Tuning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09E20-7669-3C56-13CB-86B2B9CCE90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38625" y="1224000"/>
            <a:ext cx="11111046" cy="2549347"/>
          </a:xfrm>
        </p:spPr>
        <p:txBody>
          <a:bodyPr/>
          <a:lstStyle/>
          <a:p>
            <a:r>
              <a:rPr lang="en-GB" dirty="0"/>
              <a:t>Selecting good hyperparameters is important for stable and accurate fine-tuning.</a:t>
            </a:r>
          </a:p>
          <a:p>
            <a:r>
              <a:rPr lang="en-GB" dirty="0"/>
              <a:t>Manual tuning is slow and often unreliable (error-prone).</a:t>
            </a:r>
          </a:p>
          <a:p>
            <a:r>
              <a:rPr lang="en-GB" dirty="0"/>
              <a:t>Automated tuning tools help search many combinations efficiently.</a:t>
            </a:r>
          </a:p>
          <a:p>
            <a:endParaRPr lang="en-GB" dirty="0"/>
          </a:p>
          <a:p>
            <a:r>
              <a:rPr lang="en-IN" dirty="0"/>
              <a:t>Tools Used</a:t>
            </a:r>
          </a:p>
          <a:p>
            <a:pPr lvl="1"/>
            <a:r>
              <a:rPr lang="en-GB" b="1" dirty="0" err="1"/>
              <a:t>Optuna</a:t>
            </a:r>
            <a:r>
              <a:rPr lang="en-GB" dirty="0"/>
              <a:t> (main tool for this study)</a:t>
            </a:r>
          </a:p>
          <a:p>
            <a:pPr lvl="1"/>
            <a:r>
              <a:rPr lang="en-GB" dirty="0"/>
              <a:t>Other common tools: </a:t>
            </a:r>
            <a:r>
              <a:rPr lang="en-GB" dirty="0" err="1"/>
              <a:t>Hyperopt</a:t>
            </a:r>
            <a:r>
              <a:rPr lang="en-GB" dirty="0"/>
              <a:t>, Ray Tune, </a:t>
            </a:r>
            <a:r>
              <a:rPr lang="en-GB" dirty="0" err="1"/>
              <a:t>AutoTrain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588F5-0E0A-DC5D-6803-572CA280C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C5F6A-FB78-2DE1-AD9B-00B9AACD88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23</a:t>
            </a:fld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D0878-C09D-0FBB-C23A-7F22D2354390}"/>
              </a:ext>
            </a:extLst>
          </p:cNvPr>
          <p:cNvSpPr txBox="1"/>
          <p:nvPr/>
        </p:nvSpPr>
        <p:spPr>
          <a:xfrm>
            <a:off x="540475" y="4004840"/>
            <a:ext cx="5339463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 algn="l">
              <a:buFontTx/>
              <a:buNone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DF6E2-F786-C4EC-7210-704ADA41CDEC}"/>
              </a:ext>
            </a:extLst>
          </p:cNvPr>
          <p:cNvSpPr txBox="1"/>
          <p:nvPr/>
        </p:nvSpPr>
        <p:spPr>
          <a:xfrm>
            <a:off x="540476" y="4004840"/>
            <a:ext cx="5555522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Single-Turn Task</a:t>
            </a:r>
          </a:p>
          <a:p>
            <a:pPr marL="358775" lvl="1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Model: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Ministral-8B-Instruct-2410</a:t>
            </a:r>
          </a:p>
          <a:p>
            <a:pPr marL="358775" lvl="1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Metric: Validation loss (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eval_loss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58775" lvl="1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Optuna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selected the best settings by running multiple</a:t>
            </a:r>
          </a:p>
          <a:p>
            <a:pPr marL="358775" lvl="1" indent="-92075">
              <a:lnSpc>
                <a:spcPct val="15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trials and choosing lowest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eval_loss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 algn="l">
              <a:buFontTx/>
              <a:buNone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9A11D-0640-9033-62A2-F3B0F3775AF5}"/>
              </a:ext>
            </a:extLst>
          </p:cNvPr>
          <p:cNvSpPr txBox="1"/>
          <p:nvPr/>
        </p:nvSpPr>
        <p:spPr>
          <a:xfrm>
            <a:off x="6457068" y="4004840"/>
            <a:ext cx="5555522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buNone/>
            </a:pPr>
            <a:r>
              <a:rPr lang="en-IN" b="1" dirty="0"/>
              <a:t>Multi-Turn Task</a:t>
            </a:r>
          </a:p>
          <a:p>
            <a:pPr marL="173038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Model: </a:t>
            </a:r>
            <a:r>
              <a:rPr lang="en-IN" b="1" dirty="0"/>
              <a:t>Qwen3-14B-unsloth-bnb-4bit</a:t>
            </a:r>
            <a:endParaRPr lang="en-IN" dirty="0"/>
          </a:p>
          <a:p>
            <a:pPr marL="173038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Same process: tune </a:t>
            </a:r>
          </a:p>
          <a:p>
            <a:pPr marL="173038" lvl="1">
              <a:lnSpc>
                <a:spcPct val="150000"/>
              </a:lnSpc>
            </a:pPr>
            <a:r>
              <a:rPr lang="en-IN" dirty="0"/>
              <a:t>  hyperparameters → pick lowest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393191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915B-8CA2-7132-AB22-3EBE07B1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E816-4EE7-CDED-1FD1-0FC5F9B6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BF9A0-D35D-2F43-EC85-F6743D571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FC874-B368-F8BE-FAB6-3AAD19CA580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38625" y="1224000"/>
            <a:ext cx="5445487" cy="4933732"/>
          </a:xfrm>
        </p:spPr>
        <p:txBody>
          <a:bodyPr/>
          <a:lstStyle/>
          <a:p>
            <a:r>
              <a:rPr lang="en-GB" b="1" dirty="0"/>
              <a:t>Single-Turn Evaluation - Standard ML Metrics </a:t>
            </a:r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03C2-1D13-D45E-25DB-24CDF4768F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1464A-3910-4429-0583-202E57FFD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24</a:t>
            </a:fld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28AD5-2F3E-11D4-0146-1E4B6E2D7318}"/>
              </a:ext>
            </a:extLst>
          </p:cNvPr>
          <p:cNvSpPr txBox="1"/>
          <p:nvPr/>
        </p:nvSpPr>
        <p:spPr>
          <a:xfrm>
            <a:off x="540475" y="4004840"/>
            <a:ext cx="5339463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 algn="l">
              <a:buFontTx/>
              <a:buNone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2967054-E837-3CB0-437E-5F23239D0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45795"/>
              </p:ext>
            </p:extLst>
          </p:nvPr>
        </p:nvGraphicFramePr>
        <p:xfrm>
          <a:off x="540476" y="1832477"/>
          <a:ext cx="5555522" cy="4417852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777761">
                  <a:extLst>
                    <a:ext uri="{9D8B030D-6E8A-4147-A177-3AD203B41FA5}">
                      <a16:colId xmlns:a16="http://schemas.microsoft.com/office/drawing/2014/main" val="1559123112"/>
                    </a:ext>
                  </a:extLst>
                </a:gridCol>
                <a:gridCol w="2777761">
                  <a:extLst>
                    <a:ext uri="{9D8B030D-6E8A-4147-A177-3AD203B41FA5}">
                      <a16:colId xmlns:a16="http://schemas.microsoft.com/office/drawing/2014/main" val="97265386"/>
                    </a:ext>
                  </a:extLst>
                </a:gridCol>
              </a:tblGrid>
              <a:tr h="2208926"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/>
                        <a:t>Shows how often the model predicts the correct function call or correctly predicts no call.</a:t>
                      </a:r>
                      <a:endParaRPr lang="en-IN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/>
                        <a:t>Checks how many predicted function calls were actually correct.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/>
                        <a:t>Measures reliability of positive predictions.</a:t>
                      </a:r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41013691"/>
                  </a:ext>
                </a:extLst>
              </a:tr>
              <a:tr h="2208926">
                <a:tc>
                  <a:txBody>
                    <a:bodyPr/>
                    <a:lstStyle/>
                    <a:p>
                      <a:r>
                        <a:rPr lang="en-IN" b="1" dirty="0"/>
                        <a:t>Recall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Measures how well the model finds all valid function calls present in the ground truth.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F1 Score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Harmonic mean of precision and recall.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Useful when both missing calls and predicting wrong calls matter.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81768985"/>
                  </a:ext>
                </a:extLst>
              </a:tr>
            </a:tbl>
          </a:graphicData>
        </a:graphic>
      </p:graphicFrame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878641B-58DF-A829-CB7C-5E44BD3C82AE}"/>
              </a:ext>
            </a:extLst>
          </p:cNvPr>
          <p:cNvSpPr txBox="1">
            <a:spLocks/>
          </p:cNvSpPr>
          <p:nvPr/>
        </p:nvSpPr>
        <p:spPr bwMode="gray">
          <a:xfrm>
            <a:off x="6420493" y="1224000"/>
            <a:ext cx="5445487" cy="5122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Single-Turn Evaluation - </a:t>
            </a:r>
            <a:r>
              <a:rPr lang="en-IN" b="1" dirty="0"/>
              <a:t>Function-Calling Specific Metrics</a:t>
            </a:r>
            <a:endParaRPr lang="en-GB" b="1" dirty="0"/>
          </a:p>
          <a:p>
            <a:pPr lvl="1"/>
            <a:endParaRPr lang="en-GB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B5F16BF-F845-69E1-A606-E405A00C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924451"/>
              </p:ext>
            </p:extLst>
          </p:nvPr>
        </p:nvGraphicFramePr>
        <p:xfrm>
          <a:off x="6420492" y="1832479"/>
          <a:ext cx="5231029" cy="441785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351167">
                  <a:extLst>
                    <a:ext uri="{9D8B030D-6E8A-4147-A177-3AD203B41FA5}">
                      <a16:colId xmlns:a16="http://schemas.microsoft.com/office/drawing/2014/main" val="2241923139"/>
                    </a:ext>
                  </a:extLst>
                </a:gridCol>
                <a:gridCol w="3879862">
                  <a:extLst>
                    <a:ext uri="{9D8B030D-6E8A-4147-A177-3AD203B41FA5}">
                      <a16:colId xmlns:a16="http://schemas.microsoft.com/office/drawing/2014/main" val="553861339"/>
                    </a:ext>
                  </a:extLst>
                </a:gridCol>
              </a:tblGrid>
              <a:tr h="1386548">
                <a:tc>
                  <a:txBody>
                    <a:bodyPr/>
                    <a:lstStyle/>
                    <a:p>
                      <a:r>
                        <a:rPr lang="en-IN" sz="1800" b="1" dirty="0"/>
                        <a:t>Tool Usage Detection </a:t>
                      </a:r>
                    </a:p>
                    <a:p>
                      <a:r>
                        <a:rPr lang="en-IN" sz="1800" b="1" dirty="0"/>
                        <a:t>Rate</a:t>
                      </a:r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dirty="0"/>
                        <a:t>Measures the model’s ability to decide when a tool call is needed vs. when a normal reply is enough.</a:t>
                      </a:r>
                      <a:endParaRPr lang="en-IN" sz="1800" b="0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38370180"/>
                  </a:ext>
                </a:extLst>
              </a:tr>
              <a:tr h="1386548">
                <a:tc>
                  <a:txBody>
                    <a:bodyPr/>
                    <a:lstStyle/>
                    <a:p>
                      <a:r>
                        <a:rPr lang="en-IN" sz="1800" b="1" dirty="0"/>
                        <a:t>Tool Selection Robustness</a:t>
                      </a:r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dirty="0"/>
                        <a:t>Checks if the model picks the correct tool name after choosing to make a function call.</a:t>
                      </a:r>
                      <a:endParaRPr lang="en-IN" sz="1800" b="0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85615903"/>
                  </a:ext>
                </a:extLst>
              </a:tr>
              <a:tr h="1644754">
                <a:tc>
                  <a:txBody>
                    <a:bodyPr/>
                    <a:lstStyle/>
                    <a:p>
                      <a:r>
                        <a:rPr lang="en-IN" sz="1800" b="1" dirty="0"/>
                        <a:t>Parameter Completeness </a:t>
                      </a:r>
                    </a:p>
                    <a:p>
                      <a:r>
                        <a:rPr lang="en-IN" sz="1800" b="1" dirty="0"/>
                        <a:t>Rate</a:t>
                      </a:r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Measures if the model fills all required parameters correctly.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/>
                        <a:t>Ensures no missing, extra, or incorrect parameters.</a:t>
                      </a:r>
                      <a:endParaRPr lang="en-IN" sz="1800" b="1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2857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09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9FA7-7972-C978-0136-150DFAC6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95A1-6CE9-8F1C-CF5B-5F1D88E3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A56ED-5B1D-0814-641C-5EA389088C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E92F1-3AD5-475A-DCE4-A9608287A27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38626" y="1224000"/>
            <a:ext cx="4693132" cy="4933732"/>
          </a:xfrm>
        </p:spPr>
        <p:txBody>
          <a:bodyPr/>
          <a:lstStyle/>
          <a:p>
            <a:r>
              <a:rPr lang="en-IN" b="1" dirty="0"/>
              <a:t>Automated Evaluation</a:t>
            </a:r>
          </a:p>
          <a:p>
            <a:pPr marL="0" indent="0">
              <a:buNone/>
            </a:pPr>
            <a:endParaRPr lang="en-IN" b="1" dirty="0"/>
          </a:p>
          <a:p>
            <a:pPr lvl="1"/>
            <a:r>
              <a:rPr lang="en-GB" dirty="0"/>
              <a:t>Uses an </a:t>
            </a:r>
            <a:r>
              <a:rPr lang="en-GB" b="1" dirty="0"/>
              <a:t>AST-based checker </a:t>
            </a:r>
            <a:r>
              <a:rPr lang="en-GB" dirty="0"/>
              <a:t>(Abstract Syntax Tree).</a:t>
            </a:r>
          </a:p>
          <a:p>
            <a:pPr marL="270000" lvl="1" indent="0">
              <a:buNone/>
            </a:pPr>
            <a:endParaRPr lang="en-GB" dirty="0"/>
          </a:p>
          <a:p>
            <a:pPr lvl="1"/>
            <a:r>
              <a:rPr lang="en-GB" dirty="0"/>
              <a:t>Breaks the output into a structured tree to compare predicted vs. ground truth calls.</a:t>
            </a:r>
          </a:p>
          <a:p>
            <a:pPr marL="2700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17250-C639-C5FC-E403-9E22401418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BCEA0-2CE8-2734-A8AD-0E64FE702D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25</a:t>
            </a:fld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EBD11-F797-8C86-75E8-E699A89F4048}"/>
              </a:ext>
            </a:extLst>
          </p:cNvPr>
          <p:cNvSpPr txBox="1"/>
          <p:nvPr/>
        </p:nvSpPr>
        <p:spPr>
          <a:xfrm>
            <a:off x="540475" y="4004840"/>
            <a:ext cx="5339463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indent="0" algn="l">
              <a:buFontTx/>
              <a:buNone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40CE3E5-611A-9F80-5AED-EDB35C456D30}"/>
              </a:ext>
            </a:extLst>
          </p:cNvPr>
          <p:cNvSpPr txBox="1">
            <a:spLocks/>
          </p:cNvSpPr>
          <p:nvPr/>
        </p:nvSpPr>
        <p:spPr bwMode="gray">
          <a:xfrm>
            <a:off x="5718693" y="748464"/>
            <a:ext cx="5445487" cy="5122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Multi-Turn Evaluation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7B38539-A5E8-9DCF-EF81-8DED75D08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72159"/>
              </p:ext>
            </p:extLst>
          </p:nvPr>
        </p:nvGraphicFramePr>
        <p:xfrm>
          <a:off x="5718693" y="1164371"/>
          <a:ext cx="5898905" cy="498360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798163">
                  <a:extLst>
                    <a:ext uri="{9D8B030D-6E8A-4147-A177-3AD203B41FA5}">
                      <a16:colId xmlns:a16="http://schemas.microsoft.com/office/drawing/2014/main" val="2241923139"/>
                    </a:ext>
                  </a:extLst>
                </a:gridCol>
                <a:gridCol w="4100742">
                  <a:extLst>
                    <a:ext uri="{9D8B030D-6E8A-4147-A177-3AD203B41FA5}">
                      <a16:colId xmlns:a16="http://schemas.microsoft.com/office/drawing/2014/main" val="553861339"/>
                    </a:ext>
                  </a:extLst>
                </a:gridCol>
              </a:tblGrid>
              <a:tr h="1529807">
                <a:tc>
                  <a:txBody>
                    <a:bodyPr/>
                    <a:lstStyle/>
                    <a:p>
                      <a:r>
                        <a:rPr lang="en-IN" dirty="0"/>
                        <a:t>Conversation-Level Success Rate (CSR)</a:t>
                      </a:r>
                      <a:endParaRPr lang="en-IN" sz="1800" b="1" dirty="0"/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/>
                        <a:t>Measures if the final tool call matches the ground truth.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dirty="0"/>
                        <a:t>Checks both correct tool name and all required parameters.</a:t>
                      </a:r>
                      <a:endParaRPr lang="en-IN" sz="1800" b="0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38370180"/>
                  </a:ext>
                </a:extLst>
              </a:tr>
              <a:tr h="1429008">
                <a:tc>
                  <a:txBody>
                    <a:bodyPr/>
                    <a:lstStyle/>
                    <a:p>
                      <a:r>
                        <a:rPr lang="en-IN" b="1" dirty="0"/>
                        <a:t>Clarification Handling Rate (CHR)</a:t>
                      </a:r>
                      <a:endParaRPr lang="en-IN" sz="1800" b="1" dirty="0"/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Measures how often the model </a:t>
                      </a:r>
                      <a:r>
                        <a:rPr lang="en-GB" b="1" dirty="0"/>
                        <a:t>asks for missing parameters</a:t>
                      </a:r>
                      <a:r>
                        <a:rPr lang="en-GB" dirty="0"/>
                        <a:t> instead of guessing.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Checks if the model </a:t>
                      </a:r>
                      <a:r>
                        <a:rPr lang="en-GB" b="1" dirty="0"/>
                        <a:t>completes the tool call correctly</a:t>
                      </a:r>
                      <a:r>
                        <a:rPr lang="en-GB" dirty="0"/>
                        <a:t> after clarification.</a:t>
                      </a:r>
                      <a:endParaRPr lang="en-IN" sz="1800" b="0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85615903"/>
                  </a:ext>
                </a:extLst>
              </a:tr>
              <a:tr h="1695121">
                <a:tc>
                  <a:txBody>
                    <a:bodyPr/>
                    <a:lstStyle/>
                    <a:p>
                      <a:r>
                        <a:rPr lang="en-IN" sz="1800" b="1" dirty="0"/>
                        <a:t>Parameter Completeness </a:t>
                      </a:r>
                    </a:p>
                    <a:p>
                      <a:r>
                        <a:rPr lang="en-IN" sz="1800" b="1" dirty="0"/>
                        <a:t>Rate</a:t>
                      </a:r>
                    </a:p>
                  </a:txBody>
                  <a:tcPr marL="112751" marR="112751" marT="56376" marB="563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Evaluates whether </a:t>
                      </a:r>
                      <a:r>
                        <a:rPr lang="en-GB" b="1" dirty="0"/>
                        <a:t>all required parameters</a:t>
                      </a:r>
                      <a:r>
                        <a:rPr lang="en-GB" dirty="0"/>
                        <a:t> are filled correctly. Ensures parameter values are accurate and nothing important is missing.</a:t>
                      </a:r>
                      <a:endParaRPr lang="en-IN" sz="1800" b="1" dirty="0"/>
                    </a:p>
                  </a:txBody>
                  <a:tcPr marL="112751" marR="112751" marT="56376" marB="5637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2857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964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3531-4F6A-7E27-C0C0-C3615C4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C70C6E11-D0B2-ADC0-6FBD-43B67FEEF84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EB71CB16-B3A7-475F-9DFE-AB5E2979E6BB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9042485D-5A2A-CC5F-0AC2-E469FC35B175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53491745-CDDD-08BE-55ED-589176C2469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2F8F980-59E2-C1BF-D791-3C4E385E4B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1878016"/>
            <a:ext cx="6735874" cy="1800000"/>
          </a:xfrm>
        </p:spPr>
        <p:txBody>
          <a:bodyPr/>
          <a:lstStyle/>
          <a:p>
            <a:r>
              <a:rPr lang="en-US" dirty="0"/>
              <a:t>Research findings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66EC2886-0695-902C-B3A8-B2294EAF4A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230666D8-01EA-53A2-C417-26A32786FF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Heinz Nixdorf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Institute / Fraunhofer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2A6D46FA-34F4-E917-A2EC-0864F000A6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85BD5-7F70-499C-8F04-1460C72EE5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0647-0948-D48D-F4F3-CC63B749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B15A-9174-4BC8-8AC1-5A54F24B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C848A-8BC3-D8CA-ABB0-C5F44BF9FE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70" y="1042584"/>
            <a:ext cx="11111046" cy="396000"/>
          </a:xfrm>
        </p:spPr>
        <p:txBody>
          <a:bodyPr/>
          <a:lstStyle/>
          <a:p>
            <a:r>
              <a:rPr lang="en-IN" dirty="0"/>
              <a:t>Single-Turn 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9BC5A-2DEA-8FE2-7017-DC41611D3A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Heinz Nixdorf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Institute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/ Fraunhofer IEM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DE43-0ADA-5AA6-BE9C-83DD180D0E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85BD5-7F70-499C-8F04-1460C72EE5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D2D0F-281C-6B44-51EC-7E31ADA37112}"/>
              </a:ext>
            </a:extLst>
          </p:cNvPr>
          <p:cNvSpPr txBox="1"/>
          <p:nvPr/>
        </p:nvSpPr>
        <p:spPr>
          <a:xfrm>
            <a:off x="540475" y="4004840"/>
            <a:ext cx="5339463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3A8953-2389-7903-6767-6DFDEC56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19" y="1779881"/>
            <a:ext cx="11789162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1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9458-1F29-A8C2-7BB3-8F3E84E7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C90E-7BE6-044C-E75E-385E8277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BB2B1-D1F9-0F31-6FA2-178893056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70" y="787869"/>
            <a:ext cx="11111046" cy="396000"/>
          </a:xfrm>
        </p:spPr>
        <p:txBody>
          <a:bodyPr/>
          <a:lstStyle/>
          <a:p>
            <a:r>
              <a:rPr lang="en-IN" dirty="0"/>
              <a:t>Single-Turn 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DB67-D7BC-8C7C-0A45-447841E1AA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Heinz Nixdorf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Institute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/ Fraunhofer IEM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FC45B-B914-1AB7-AD83-81619274FE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85BD5-7F70-499C-8F04-1460C72EE5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C929C-BD44-0C0B-EAC5-DBDF0CC943D6}"/>
              </a:ext>
            </a:extLst>
          </p:cNvPr>
          <p:cNvSpPr txBox="1"/>
          <p:nvPr/>
        </p:nvSpPr>
        <p:spPr>
          <a:xfrm>
            <a:off x="540475" y="4004840"/>
            <a:ext cx="5339463" cy="202516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60FD42-029F-9E78-B29F-C4ACD926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00" y="1030177"/>
            <a:ext cx="10353045" cy="528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C383-6D50-516A-04B9-563AE7F7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EFFC9-C667-97DE-A3F5-11468FC467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Multi-Turn 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6CB36D-1204-CCB1-046C-D722D18B58A3}"/>
              </a:ext>
            </a:extLst>
          </p:cNvPr>
          <p:cNvPicPr>
            <a:picLocks noGrp="1" noChangeAspect="1"/>
          </p:cNvPicPr>
          <p:nvPr>
            <p:ph sz="quarter" idx="24"/>
          </p:nvPr>
        </p:nvPicPr>
        <p:blipFill>
          <a:blip r:embed="rId3"/>
          <a:stretch>
            <a:fillRect/>
          </a:stretch>
        </p:blipFill>
        <p:spPr bwMode="gray">
          <a:xfrm>
            <a:off x="1105798" y="2209779"/>
            <a:ext cx="9426757" cy="199661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D5F51-F8A5-4664-D743-BB76714F5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EDF6-C0DB-352A-A12D-F3DCEB013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29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559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3D97-EA32-4810-4B9C-B96F01C10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5C9B-0218-3E70-C502-16E0998E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27F9-F4F0-37ED-3D37-2A3AB8B40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Multi-Turn 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77F1-7218-5939-DC50-357C6E5CC7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E951-4DF0-3152-CEB8-F37FF78EF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30</a:t>
            </a:fld>
            <a:endParaRPr lang="en-US" noProof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ADEE34-B45A-23A1-2282-3892E4935F37}"/>
              </a:ext>
            </a:extLst>
          </p:cNvPr>
          <p:cNvPicPr>
            <a:picLocks noGrp="1" noChangeAspect="1"/>
          </p:cNvPicPr>
          <p:nvPr>
            <p:ph sz="quarter" idx="24"/>
          </p:nvPr>
        </p:nvPicPr>
        <p:blipFill>
          <a:blip r:embed="rId3"/>
          <a:stretch>
            <a:fillRect/>
          </a:stretch>
        </p:blipFill>
        <p:spPr>
          <a:xfrm>
            <a:off x="979676" y="1086125"/>
            <a:ext cx="10424048" cy="5263535"/>
          </a:xfrm>
        </p:spPr>
      </p:pic>
    </p:spTree>
    <p:extLst>
      <p:ext uri="{BB962C8B-B14F-4D97-AF65-F5344CB8AC3E}">
        <p14:creationId xmlns:p14="http://schemas.microsoft.com/office/powerpoint/2010/main" val="103559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49CF-1487-F143-8FDA-F0FB49EF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55EA532-17DD-3CE7-6457-C9E91008BAA6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1CA5FA57-AD63-EFD1-48E6-C8D8BD5D34AB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C5E74437-F8BC-3F43-81F6-0E614F2798A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75A4EB50-0788-6EEE-F536-35A54569D43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ED6BE4F-55B7-8EE4-D9D3-7295C037ABC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2306455"/>
            <a:ext cx="6735874" cy="1800000"/>
          </a:xfrm>
        </p:spPr>
        <p:txBody>
          <a:bodyPr/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79317DB9-AAE8-3943-EB41-C769B2296B0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E8349762-0B93-0DC1-BCAA-BE4905A2E9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Heinz Nixdorf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Institute / Fraunhofer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F68C3B9-3AAD-284E-9FD7-37CE57C81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85BD5-7F70-499C-8F04-1460C72EE5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39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2F58-A984-2E3E-E428-874A2C48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0A3C4-76CD-BDDE-B8BA-22FB4435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Future Work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F9D1-8627-B666-F596-136680052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8411C-25B6-C45F-EAAF-3A9528A16A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32</a:t>
            </a:fld>
            <a:endParaRPr lang="en-US" noProof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C05C4BF-CC2F-FF52-28B2-41DEBC9E2212}"/>
              </a:ext>
            </a:extLst>
          </p:cNvPr>
          <p:cNvSpPr>
            <a:spLocks noGrp="1" noChangeArrowheads="1"/>
          </p:cNvSpPr>
          <p:nvPr>
            <p:ph sz="quarter" idx="24"/>
          </p:nvPr>
        </p:nvSpPr>
        <p:spPr bwMode="auto">
          <a:xfrm>
            <a:off x="540476" y="1166849"/>
            <a:ext cx="1103699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Study focuses only on </a:t>
            </a:r>
            <a:r>
              <a:rPr lang="en-GB" b="1" dirty="0"/>
              <a:t>single-turn and multi-turn</a:t>
            </a:r>
            <a:r>
              <a:rPr lang="en-GB" dirty="0"/>
              <a:t> calls.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evaluation of parallel function calling.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support for nested / multi-step calls where outputs feed into later steps.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Only </a:t>
            </a:r>
            <a:r>
              <a:rPr lang="en-GB" b="1" dirty="0" err="1"/>
              <a:t>QLoRA</a:t>
            </a:r>
            <a:r>
              <a:rPr lang="en-GB" dirty="0"/>
              <a:t> used for fine-tuning.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Other methods like adapters tuning, prefix tuning, or prompt-based tuning can be explored for better speed, generalization, or stability.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Dataset is </a:t>
            </a:r>
            <a:r>
              <a:rPr lang="en-GB" b="1" dirty="0"/>
              <a:t>synthetic</a:t>
            </a:r>
            <a:r>
              <a:rPr lang="en-GB" dirty="0"/>
              <a:t> and may not fully reflect real user behaviour.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Limited variety, ambiguity, long-dialogue patterns.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Multi-turn setup does not include: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Intent shifts, overwriting parameters.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Model selection limited to </a:t>
            </a:r>
            <a:r>
              <a:rPr lang="en-GB" b="1" dirty="0"/>
              <a:t>medium and large models</a:t>
            </a:r>
            <a:r>
              <a:rPr lang="en-GB" dirty="0"/>
              <a:t>.</a:t>
            </a:r>
          </a:p>
          <a:p>
            <a:pPr marL="2700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No testing on </a:t>
            </a:r>
            <a:r>
              <a:rPr lang="en-GB" b="1" dirty="0"/>
              <a:t>1B-3B lightweight models or even smaller</a:t>
            </a:r>
            <a:r>
              <a:rPr lang="en-GB" dirty="0"/>
              <a:t> that might be important for edge devices.</a:t>
            </a:r>
          </a:p>
        </p:txBody>
      </p:sp>
    </p:spTree>
    <p:extLst>
      <p:ext uri="{BB962C8B-B14F-4D97-AF65-F5344CB8AC3E}">
        <p14:creationId xmlns:p14="http://schemas.microsoft.com/office/powerpoint/2010/main" val="215745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F9C3-8853-03C7-98B5-BD76D406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CC81F0BB-5F8A-011B-0652-20F74F3E487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2539" b="2539"/>
          <a:stretch/>
        </p:blipFill>
        <p:spPr bwMode="gray">
          <a:xfrm>
            <a:off x="8128000" y="0"/>
            <a:ext cx="4064000" cy="6858000"/>
          </a:xfrm>
        </p:spPr>
      </p:pic>
      <p:sp>
        <p:nvSpPr>
          <p:cNvPr id="9" name="Layer">
            <a:extLst>
              <a:ext uri="{FF2B5EF4-FFF2-40B4-BE49-F238E27FC236}">
                <a16:creationId xmlns:a16="http://schemas.microsoft.com/office/drawing/2014/main" id="{B4D36A61-D74C-FC14-6535-E8833656E8BC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>
          <a:xfrm>
            <a:off x="8127600" y="0"/>
            <a:ext cx="4064400" cy="685800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Logo 1">
            <a:extLst>
              <a:ext uri="{FF2B5EF4-FFF2-40B4-BE49-F238E27FC236}">
                <a16:creationId xmlns:a16="http://schemas.microsoft.com/office/drawing/2014/main" id="{06042239-326B-44B2-FC3A-803A8F1DEF9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5" name="Logo 2">
            <a:extLst>
              <a:ext uri="{FF2B5EF4-FFF2-40B4-BE49-F238E27FC236}">
                <a16:creationId xmlns:a16="http://schemas.microsoft.com/office/drawing/2014/main" id="{D7E26DA9-CD0D-5847-6A1A-46A0AC9127E3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AD61DA2F-1E57-49AD-B916-F446FE56DA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852055" y="1891648"/>
            <a:ext cx="6735874" cy="18000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No.">
            <a:extLst>
              <a:ext uri="{FF2B5EF4-FFF2-40B4-BE49-F238E27FC236}">
                <a16:creationId xmlns:a16="http://schemas.microsoft.com/office/drawing/2014/main" id="{93F40F20-066A-7367-B9E6-81670DBB64D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1F602711-3FED-7BFA-A2C5-61CF6E8D45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Heinz Nixdorf </a:t>
            </a: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Institute / Fraunhofer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IEM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5E48ADA-4CD3-CB0C-8696-0D1D34780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85BD5-7F70-499C-8F04-1460C72EE5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6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E457-4D8B-304A-DC67-D6205F2E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EA5A-3154-5A37-11A1-73C24F40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F7CBD-C49E-3C00-6337-5B45F829C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© Heinz Nixdorf </a:t>
            </a:r>
            <a:r>
              <a:rPr lang="en-US" noProof="1"/>
              <a:t>Institute</a:t>
            </a:r>
            <a:r>
              <a:rPr lang="en-US" noProof="0"/>
              <a:t> / Fraunhofer IEM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9E54-E2E8-15B9-0CF0-9EBFCF85A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685BD5-7F70-499C-8F04-1460C72EE5D6}" type="slidenum">
              <a:rPr lang="en-US" noProof="0" smtClean="0"/>
              <a:pPr/>
              <a:t>34</a:t>
            </a:fld>
            <a:endParaRPr lang="en-US" noProof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C3DE06E-1307-9C98-9993-FECDE944989F}"/>
              </a:ext>
            </a:extLst>
          </p:cNvPr>
          <p:cNvSpPr>
            <a:spLocks noGrp="1" noChangeArrowheads="1"/>
          </p:cNvSpPr>
          <p:nvPr>
            <p:ph sz="quarter" idx="24"/>
          </p:nvPr>
        </p:nvSpPr>
        <p:spPr bwMode="auto">
          <a:xfrm>
            <a:off x="540476" y="1443853"/>
            <a:ext cx="1103699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Study gives a clear evaluation of function calling in LLMs for both </a:t>
            </a:r>
            <a:r>
              <a:rPr lang="en-GB" b="1" dirty="0"/>
              <a:t>single-turn and multi-turn tasks</a:t>
            </a:r>
            <a:r>
              <a:rPr lang="en-GB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Fine-tuning, mainly with </a:t>
            </a:r>
            <a:r>
              <a:rPr lang="en-GB" b="1" dirty="0" err="1"/>
              <a:t>QLoRA</a:t>
            </a:r>
            <a:r>
              <a:rPr lang="en-GB" dirty="0"/>
              <a:t>, improves accuracy and completeness of function calls.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b="1" dirty="0"/>
              <a:t>Hyperparameter</a:t>
            </a:r>
            <a:r>
              <a:rPr lang="en-GB" dirty="0"/>
              <a:t> tuning plays an important role in model stability and better generalization.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Well-tuned </a:t>
            </a:r>
            <a:r>
              <a:rPr lang="en-GB" b="1" dirty="0"/>
              <a:t>smaller models</a:t>
            </a:r>
            <a:r>
              <a:rPr lang="en-GB" dirty="0"/>
              <a:t> can match or even exceed larger models for function-calling tasks.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/>
              <a:t>The work provides a solid base for building more stable and practical </a:t>
            </a:r>
            <a:r>
              <a:rPr lang="en-GB" b="1" dirty="0"/>
              <a:t>LLM-based agent systems for enterprise use case.</a:t>
            </a:r>
          </a:p>
        </p:txBody>
      </p:sp>
    </p:spTree>
    <p:extLst>
      <p:ext uri="{BB962C8B-B14F-4D97-AF65-F5344CB8AC3E}">
        <p14:creationId xmlns:p14="http://schemas.microsoft.com/office/powerpoint/2010/main" val="295629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">
            <a:extLst>
              <a:ext uri="{FF2B5EF4-FFF2-40B4-BE49-F238E27FC236}">
                <a16:creationId xmlns:a16="http://schemas.microsoft.com/office/drawing/2014/main" id="{C0827412-05B5-4A50-A9D9-01597EEBF2E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3"/>
          <a:srcRect t="7798" b="7798"/>
          <a:stretch/>
        </p:blipFill>
        <p:spPr bwMode="gray">
          <a:xfrm>
            <a:off x="0" y="0"/>
            <a:ext cx="12192000" cy="6858000"/>
          </a:xfrm>
        </p:spPr>
      </p:pic>
      <p:sp>
        <p:nvSpPr>
          <p:cNvPr id="23" name="Layer">
            <a:extLst>
              <a:ext uri="{FF2B5EF4-FFF2-40B4-BE49-F238E27FC236}">
                <a16:creationId xmlns:a16="http://schemas.microsoft.com/office/drawing/2014/main" id="{2AC1194A-C254-464C-A093-A055FA9B2B4D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Logo 1">
            <a:extLst>
              <a:ext uri="{FF2B5EF4-FFF2-40B4-BE49-F238E27FC236}">
                <a16:creationId xmlns:a16="http://schemas.microsoft.com/office/drawing/2014/main" id="{DD1B05A2-10CC-4A10-8DDD-DC56CDA79622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25" name="Logo 2">
            <a:extLst>
              <a:ext uri="{FF2B5EF4-FFF2-40B4-BE49-F238E27FC236}">
                <a16:creationId xmlns:a16="http://schemas.microsoft.com/office/drawing/2014/main" id="{AED4A1F2-5D93-477A-A8DF-C5776095C781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 bwMode="gray"/>
        <p:txBody>
          <a:bodyPr/>
          <a:lstStyle/>
          <a:p>
            <a:endParaRPr lang="en-IN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6C5DA3F-AF79-49FC-844A-4A970D4A081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1427410" y="1428404"/>
            <a:ext cx="3386328" cy="3999600"/>
          </a:xfrm>
        </p:spPr>
        <p:txBody>
          <a:bodyPr/>
          <a:lstStyle/>
          <a:p>
            <a:r>
              <a:rPr lang="en-GB" sz="4800" b="1" dirty="0">
                <a:solidFill>
                  <a:schemeClr val="accent1"/>
                </a:solidFill>
              </a:rPr>
              <a:t>Many thanks</a:t>
            </a:r>
            <a:br>
              <a:rPr lang="en-GB" sz="4800" b="1" dirty="0">
                <a:solidFill>
                  <a:schemeClr val="accent1"/>
                </a:solidFill>
              </a:rPr>
            </a:br>
            <a:r>
              <a:rPr lang="en-GB" sz="4800" b="1" dirty="0">
                <a:solidFill>
                  <a:schemeClr val="accent1"/>
                </a:solidFill>
              </a:rPr>
              <a:t>for your attention</a:t>
            </a:r>
            <a:endParaRPr lang="en-US" sz="4800" b="1" dirty="0">
              <a:solidFill>
                <a:schemeClr val="accent1"/>
              </a:solidFill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589416A-3421-4AE7-BA8C-58812B01D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126821" y="6390000"/>
            <a:ext cx="4969177" cy="288000"/>
          </a:xfrm>
        </p:spPr>
        <p:txBody>
          <a:bodyPr/>
          <a:lstStyle/>
          <a:p>
            <a:r>
              <a:rPr lang="en-US" dirty="0"/>
              <a:t>© Heinz Nixdorf </a:t>
            </a:r>
            <a:r>
              <a:rPr lang="en-US" noProof="1"/>
              <a:t>Institute / Fraunhofer </a:t>
            </a:r>
            <a:r>
              <a:rPr lang="en-US" dirty="0"/>
              <a:t>IEM</a:t>
            </a:r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90921507-5055-473C-B4B4-E96C752D4CE2}"/>
              </a:ext>
            </a:extLst>
          </p:cNvPr>
          <p:cNvSpPr>
            <a:spLocks noGrp="1"/>
          </p:cNvSpPr>
          <p:nvPr>
            <p:ph sz="quarter" idx="26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3B6C94F-63DB-43E3-805A-52137B19D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40070" y="6390000"/>
            <a:ext cx="226830" cy="288000"/>
          </a:xfrm>
        </p:spPr>
        <p:txBody>
          <a:bodyPr/>
          <a:lstStyle/>
          <a:p>
            <a:fld id="{65685BD5-7F70-499C-8F04-1460C72EE5D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Heinz Nixdorf Institut / Fraunhofer IEM">
  <a:themeElements>
    <a:clrScheme name="Fraunhofer IEM">
      <a:dk1>
        <a:srgbClr val="000000"/>
      </a:dk1>
      <a:lt1>
        <a:sysClr val="window" lastClr="FFFFFF"/>
      </a:lt1>
      <a:dk2>
        <a:srgbClr val="003A80"/>
      </a:dk2>
      <a:lt2>
        <a:srgbClr val="FFFFFF"/>
      </a:lt2>
      <a:accent1>
        <a:srgbClr val="179C7D"/>
      </a:accent1>
      <a:accent2>
        <a:srgbClr val="6DBFA9"/>
      </a:accent2>
      <a:accent3>
        <a:srgbClr val="B1C800"/>
      </a:accent3>
      <a:accent4>
        <a:srgbClr val="003A80"/>
      </a:accent4>
      <a:accent5>
        <a:srgbClr val="1F82C0"/>
      </a:accent5>
      <a:accent6>
        <a:srgbClr val="FDC300"/>
      </a:accent6>
      <a:hlink>
        <a:srgbClr val="7F7F7F"/>
      </a:hlink>
      <a:folHlink>
        <a:srgbClr val="7F7F7F"/>
      </a:folHlink>
    </a:clrScheme>
    <a:fontScheme name="Fraunhofer IE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38100">
          <a:gradFill flip="none" rotWithShape="1">
            <a:gsLst>
              <a:gs pos="5000">
                <a:schemeClr val="tx2"/>
              </a:gs>
              <a:gs pos="90000">
                <a:schemeClr val="accent1"/>
              </a:gs>
            </a:gsLst>
            <a:lin ang="2400000" scaled="0"/>
            <a:tileRect/>
          </a:gradFill>
          <a:miter lim="800000"/>
        </a:ln>
      </a:spPr>
      <a:bodyPr vert="horz" lIns="180000" tIns="180000" rIns="180000" bIns="180000" rtlCol="0" anchor="ctr">
        <a:noAutofit/>
      </a:bodyPr>
      <a:lstStyle>
        <a:defPPr algn="l">
          <a:lnSpc>
            <a:spcPct val="90000"/>
          </a:lnSpc>
          <a:spcAft>
            <a:spcPts val="1000"/>
          </a:spcAft>
          <a:buClr>
            <a:schemeClr val="tx1">
              <a:lumMod val="75000"/>
              <a:lumOff val="25000"/>
            </a:schemeClr>
          </a:buClr>
          <a:defRPr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spDef>
    <a:lnDef>
      <a:spPr>
        <a:ln w="19050" cap="flat">
          <a:solidFill>
            <a:schemeClr val="bg1">
              <a:lumMod val="65000"/>
            </a:schemeClr>
          </a:solidFill>
          <a:miter lim="800000"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noAutofit/>
      </a:bodyPr>
      <a:lstStyle>
        <a:defPPr marL="0" indent="0" algn="l">
          <a:buFontTx/>
          <a:buNone/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Master HNI-IEM 2020-EN_UPDATE.potx" id="{03E17129-5307-4AA2-9B46-EFF2376F4EF1}" vid="{FB4EC54A-34AA-4FDB-84F0-6E0558D095A5}"/>
    </a:ext>
  </a:extLst>
</a:theme>
</file>

<file path=ppt/theme/theme2.xml><?xml version="1.0" encoding="utf-8"?>
<a:theme xmlns:a="http://schemas.openxmlformats.org/drawingml/2006/main" name="Office">
  <a:themeElements>
    <a:clrScheme name="Fraunhofer IEM">
      <a:dk1>
        <a:srgbClr val="000000"/>
      </a:dk1>
      <a:lt1>
        <a:sysClr val="window" lastClr="FFFFFF"/>
      </a:lt1>
      <a:dk2>
        <a:srgbClr val="003A80"/>
      </a:dk2>
      <a:lt2>
        <a:srgbClr val="FFFFFF"/>
      </a:lt2>
      <a:accent1>
        <a:srgbClr val="179C7D"/>
      </a:accent1>
      <a:accent2>
        <a:srgbClr val="6DBFA9"/>
      </a:accent2>
      <a:accent3>
        <a:srgbClr val="B1C800"/>
      </a:accent3>
      <a:accent4>
        <a:srgbClr val="003A80"/>
      </a:accent4>
      <a:accent5>
        <a:srgbClr val="1F82C0"/>
      </a:accent5>
      <a:accent6>
        <a:srgbClr val="FDC300"/>
      </a:accent6>
      <a:hlink>
        <a:srgbClr val="7F7F7F"/>
      </a:hlink>
      <a:folHlink>
        <a:srgbClr val="7F7F7F"/>
      </a:folHlink>
    </a:clrScheme>
    <a:fontScheme name="Fraunhofer IE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Fraunhofer IEM">
      <a:dk1>
        <a:srgbClr val="000000"/>
      </a:dk1>
      <a:lt1>
        <a:sysClr val="window" lastClr="FFFFFF"/>
      </a:lt1>
      <a:dk2>
        <a:srgbClr val="003A80"/>
      </a:dk2>
      <a:lt2>
        <a:srgbClr val="FFFFFF"/>
      </a:lt2>
      <a:accent1>
        <a:srgbClr val="179C7D"/>
      </a:accent1>
      <a:accent2>
        <a:srgbClr val="6DBFA9"/>
      </a:accent2>
      <a:accent3>
        <a:srgbClr val="B1C800"/>
      </a:accent3>
      <a:accent4>
        <a:srgbClr val="003A80"/>
      </a:accent4>
      <a:accent5>
        <a:srgbClr val="1F82C0"/>
      </a:accent5>
      <a:accent6>
        <a:srgbClr val="FDC300"/>
      </a:accent6>
      <a:hlink>
        <a:srgbClr val="7F7F7F"/>
      </a:hlink>
      <a:folHlink>
        <a:srgbClr val="7F7F7F"/>
      </a:folHlink>
    </a:clrScheme>
    <a:fontScheme name="Fraunhofer IE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87C8EF3839C545AB193A847246D849" ma:contentTypeVersion="14" ma:contentTypeDescription="Ein neues Dokument erstellen." ma:contentTypeScope="" ma:versionID="f38ea8d88d353703c613abbdf096bdd9">
  <xsd:schema xmlns:xsd="http://www.w3.org/2001/XMLSchema" xmlns:xs="http://www.w3.org/2001/XMLSchema" xmlns:p="http://schemas.microsoft.com/office/2006/metadata/properties" xmlns:ns2="a9e18f9b-30e6-49bc-b414-8476344b0b96" xmlns:ns3="12cd998e-b4d0-40cb-b176-2dc56e991d34" targetNamespace="http://schemas.microsoft.com/office/2006/metadata/properties" ma:root="true" ma:fieldsID="49f3f332fcb3ae46e63da9a3b27926dd" ns2:_="" ns3:_="">
    <xsd:import namespace="a9e18f9b-30e6-49bc-b414-8476344b0b96"/>
    <xsd:import namespace="12cd998e-b4d0-40cb-b176-2dc56e991d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e18f9b-30e6-49bc-b414-8476344b0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998e-b4d0-40cb-b176-2dc56e991d3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6772378-ba87-41b9-a97e-eed620e9d2d0}" ma:internalName="TaxCatchAll" ma:showField="CatchAllData" ma:web="12cd998e-b4d0-40cb-b176-2dc56e991d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cd998e-b4d0-40cb-b176-2dc56e991d34" xsi:nil="true"/>
    <lcf76f155ced4ddcb4097134ff3c332f xmlns="a9e18f9b-30e6-49bc-b414-8476344b0b9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690A77-C71B-4A71-9870-DDD566514C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e18f9b-30e6-49bc-b414-8476344b0b96"/>
    <ds:schemaRef ds:uri="12cd998e-b4d0-40cb-b176-2dc56e991d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1AD2B3-DA54-4F0B-9701-0578ABA3A1DE}">
  <ds:schemaRefs>
    <ds:schemaRef ds:uri="http://schemas.microsoft.com/office/2006/metadata/properties"/>
    <ds:schemaRef ds:uri="http://schemas.microsoft.com/office/infopath/2007/PartnerControls"/>
    <ds:schemaRef ds:uri="12cd998e-b4d0-40cb-b176-2dc56e991d34"/>
    <ds:schemaRef ds:uri="a9e18f9b-30e6-49bc-b414-8476344b0b96"/>
  </ds:schemaRefs>
</ds:datastoreItem>
</file>

<file path=customXml/itemProps3.xml><?xml version="1.0" encoding="utf-8"?>
<ds:datastoreItem xmlns:ds="http://schemas.openxmlformats.org/officeDocument/2006/customXml" ds:itemID="{E68441A8-2E01-4D18-B17E-3119BD557D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Master HNI-IEM 2020-EN_UPDATE</Template>
  <TotalTime>8383</TotalTime>
  <Words>5534</Words>
  <Application>Microsoft Office PowerPoint</Application>
  <PresentationFormat>Widescreen</PresentationFormat>
  <Paragraphs>618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Wingdings</vt:lpstr>
      <vt:lpstr>Heinz Nixdorf Institut / Fraunhofer IEM</vt:lpstr>
      <vt:lpstr>A Comparative Study of Function Calling in LLMs With a Focus on Fine-Tuning For Precision</vt:lpstr>
      <vt:lpstr>Outline</vt:lpstr>
      <vt:lpstr>Introduction &amp;   Motivation</vt:lpstr>
      <vt:lpstr>Introduction &amp; Motivation</vt:lpstr>
      <vt:lpstr>Introduction &amp; Motivation</vt:lpstr>
      <vt:lpstr>Introduction &amp; Motivation</vt:lpstr>
      <vt:lpstr>Introduction &amp; Motivation</vt:lpstr>
      <vt:lpstr>Introduction &amp; Motivation</vt:lpstr>
      <vt:lpstr>RQs &amp; objectives</vt:lpstr>
      <vt:lpstr>RQs &amp; Objectives</vt:lpstr>
      <vt:lpstr>RQs &amp; Objectives</vt:lpstr>
      <vt:lpstr>Background</vt:lpstr>
      <vt:lpstr>Background</vt:lpstr>
      <vt:lpstr>Background</vt:lpstr>
      <vt:lpstr>Background</vt:lpstr>
      <vt:lpstr>Background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Research findings</vt:lpstr>
      <vt:lpstr>Results</vt:lpstr>
      <vt:lpstr>Results</vt:lpstr>
      <vt:lpstr>Results</vt:lpstr>
      <vt:lpstr>Results</vt:lpstr>
      <vt:lpstr>Limitations &amp; Future Work</vt:lpstr>
      <vt:lpstr>Limitations &amp; Future Work</vt:lpstr>
      <vt:lpstr>Conclusion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title by clicking</dc:title>
  <dc:creator>Schreiner, Nick</dc:creator>
  <cp:keywords>Template EN</cp:keywords>
  <cp:lastModifiedBy>Kunjan Ketanbhai Shah</cp:lastModifiedBy>
  <cp:revision>281</cp:revision>
  <cp:lastPrinted>1999-12-31T22:00:00Z</cp:lastPrinted>
  <dcterms:created xsi:type="dcterms:W3CDTF">2022-07-18T10:00:03Z</dcterms:created>
  <dcterms:modified xsi:type="dcterms:W3CDTF">2025-11-18T20:20:55Z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0x0101000D87C8EF3839C545AB193A847246D849</vt:lpwstr>
  </property>
</Properties>
</file>